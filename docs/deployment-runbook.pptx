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8d11109-0cf9-49b2-cfe1-8119e449ce08}">
          <p14:sldIdLst>
            <p14:sldId id="256"/>
            <p14:sldId id="257"/>
          </p14:sldIdLst>
        </p14:section>
        <p14:section name="Release" id="{b5af559f-5c41-e3dc-58e2-e2b03de456de}">
          <p14:sldIdLst>
            <p14:sldId id="258"/>
            <p14:sldId id="259"/>
          </p14:sldIdLst>
        </p14:section>
        <p14:section name="Failure points" id="{541a64f0-b0cd-1a8b-e21a-d1f1df5b5969}">
          <p14:sldIdLst>
            <p14:sldId id="260"/>
            <p14:sldId id="261"/>
          </p14:sldIdLst>
        </p14:section>
        <p14:section name="Recovery" id="{7a00bed0-5074-89f7-e143-c751f3990891}">
          <p14:sldIdLst>
            <p14:sldId id="262"/>
            <p14:sldId id="263"/>
          </p14:sldIdLst>
        </p14:section>
        <p14:section name="Checklist" id="{a1a3c1b6-a796-01d0-4e1e-4ea7c3503a32}">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to docs/deployment-runbook.md. Red ! marks a step that has failed before or can fail without anyone noticing.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branches deploy the testing service. Staging deploys on every push. Production only deploys from a release tag cut by release-please, behind the production environment's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checklist with commands is in docs/deployment-runbook.md. Step 5 depends on FORWARD_MERGE_TOKEN. Step 6: an empty tag skips the deploy job and the run still looks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Migrations run against the production database before the new code deploys. gcloud app deploy promotes the new version, so by the time the smoke test runs, users are on it. The cleanup step deletes the oldest non-serving version; with two versions that is the one you just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all fail before the database or the serving version changes, except the last one, which breaks users the moment the new code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OOM history: docs/app-engine-oom-instance-churn.md. Data migrations run from data_migrations.yml: status first, then run-all or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versions first: gcloud app versions list --service=ocotillo-api. Take the backup before any release that carries data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hotfix merge into production does not cut a release there, so the automatic back-merge to staging never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list is cheap before the deploy and expensive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657600"/>
            <a:ext cx="10698480" cy="1097280"/>
          </a:xfrm>
          <a:prstGeom prst="rect">
            <a:avLst/>
          </a:prstGeom>
          <a:noFill/>
          <a:ln/>
        </p:spPr>
        <p:txBody>
          <a:bodyPr wrap="square" rtlCol="0"/>
          <a:lstStyle>
            <a:lvl1pPr algn="l" indent="0" marL="0">
              <a:buNone/>
              <a:defRPr lang="en-US" sz="2000" dirty="0">
                <a:solidFill>
                  <a:srgbClr val="C9D6D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OcotilloAPI · deployment runbook</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lIns="0" tIns="0" rIns="0" bIns="0" rtlCol="0" anchor="b"/>
          <a:lstStyle/>
          <a:p>
            <a:pPr algn="l" indent="0" marL="0">
              <a:buNone/>
            </a:pPr>
            <a:r>
              <a:rPr lang="en-US" sz="4800" b="1" dirty="0">
                <a:solidFill>
                  <a:schemeClr val="bg1"/>
                </a:solidFill>
              </a:rPr>
              <a:t>Deploying OcotilloAPI</a:t>
            </a:r>
            <a:endParaRPr lang="en-US" sz="4800" dirty="0"/>
          </a:p>
        </p:txBody>
      </p:sp>
      <p:sp>
        <p:nvSpPr>
          <p:cNvPr id="3" name="Text 0"/>
          <p:cNvSpPr/>
          <p:nvPr>
            <p:ph idx="101" type="body" hasCustomPrompt="1"/>
          </p:nvPr>
        </p:nvSpPr>
        <p:spPr>
          <a:xfrm>
            <a:off x="731520" y="3657600"/>
            <a:ext cx="10698480" cy="1097280"/>
          </a:xfrm>
          <a:prstGeom prst="rect">
            <a:avLst/>
          </a:prstGeom>
          <a:noFill/>
          <a:ln/>
        </p:spPr>
        <p:txBody>
          <a:bodyPr wrap="square" lIns="0" tIns="0" rIns="0" bIns="0" rtlCol="0" anchor="t"/>
          <a:lstStyle/>
          <a:p>
            <a:pPr algn="l" indent="0" marL="0">
              <a:buNone/>
            </a:pPr>
            <a:r>
              <a:rPr lang="en-US" sz="2000" dirty="0">
                <a:solidFill>
                  <a:srgbClr val="C9D6D1"/>
                </a:solidFill>
              </a:rPr>
              <a:t>How a release reaches production, and where it breaks</a:t>
            </a:r>
            <a:endParaRPr lang="en-US" sz="2000" dirty="0"/>
          </a:p>
        </p:txBody>
      </p:sp>
      <p:sp>
        <p:nvSpPr>
          <p:cNvPr id="4" name="title warn"/>
          <p:cNvSpPr/>
          <p:nvPr/>
        </p:nvSpPr>
        <p:spPr>
          <a:xfrm>
            <a:off x="731520" y="1234440"/>
            <a:ext cx="548640" cy="548640"/>
          </a:xfrm>
          <a:prstGeom prst="ellipse">
            <a:avLst/>
          </a:prstGeom>
          <a:solidFill>
            <a:schemeClr val="accent2"/>
          </a:solidFill>
          <a:ln w="12700">
            <a:solidFill>
              <a:schemeClr val="accent2"/>
            </a:solidFill>
            <a:prstDash val="solid"/>
          </a:ln>
        </p:spPr>
      </p:sp>
      <p:sp>
        <p:nvSpPr>
          <p:cNvPr id="5" name="title warn mark"/>
          <p:cNvSpPr txBox="1"/>
          <p:nvPr/>
        </p:nvSpPr>
        <p:spPr>
          <a:xfrm>
            <a:off x="731520" y="123444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a:t>
            </a:r>
            <a:endParaRPr lang="en-US" sz="2400" dirty="0"/>
          </a:p>
        </p:txBody>
      </p:sp>
      <p:sp>
        <p:nvSpPr>
          <p:cNvPr id="6" name="Text 4"/>
          <p:cNvSpPr txBox="1"/>
          <p:nvPr/>
        </p:nvSpPr>
        <p:spPr>
          <a:xfrm>
            <a:off x="1463040" y="1234440"/>
            <a:ext cx="7315200" cy="548640"/>
          </a:xfrm>
          <a:prstGeom prst="rect">
            <a:avLst/>
          </a:prstGeom>
          <a:noFill/>
          <a:ln/>
        </p:spPr>
        <p:txBody>
          <a:bodyPr wrap="square" lIns="0" tIns="0" rIns="0" bIns="0" rtlCol="0" anchor="ctr"/>
          <a:lstStyle/>
          <a:p>
            <a:pPr indent="0" marL="0">
              <a:buNone/>
            </a:pPr>
            <a:r>
              <a:rPr lang="en-US" sz="1800" dirty="0">
                <a:solidFill>
                  <a:srgbClr val="C9D6D1"/>
                </a:solidFill>
              </a:rPr>
              <a:t>= a known failure point. Watch for these.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Three branches, three services</a:t>
            </a:r>
            <a:endParaRPr lang="en-US" sz="3600" dirty="0"/>
          </a:p>
        </p:txBody>
      </p:sp>
      <p:sp>
        <p:nvSpPr>
          <p:cNvPr id="3" name="branch jir*"/>
          <p:cNvSpPr/>
          <p:nvPr/>
        </p:nvSpPr>
        <p:spPr>
          <a:xfrm>
            <a:off x="822960" y="1600200"/>
            <a:ext cx="2743200" cy="1005840"/>
          </a:xfrm>
          <a:prstGeom prst="roundRect">
            <a:avLst>
              <a:gd name="adj" fmla="val 7273"/>
            </a:avLst>
          </a:prstGeom>
          <a:solidFill>
            <a:schemeClr val="tx2"/>
          </a:solidFill>
          <a:ln w="12700">
            <a:solidFill>
              <a:schemeClr val="tx2"/>
            </a:solidFill>
            <a:prstDash val="solid"/>
          </a:ln>
        </p:spPr>
      </p:sp>
      <p:sp>
        <p:nvSpPr>
          <p:cNvPr id="4" name="Text 2"/>
          <p:cNvSpPr txBox="1"/>
          <p:nvPr/>
        </p:nvSpPr>
        <p:spPr>
          <a:xfrm>
            <a:off x="822960" y="1600200"/>
            <a:ext cx="2743200" cy="1005840"/>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jir*</a:t>
            </a:r>
            <a:endParaRPr lang="en-US" sz="2000" dirty="0"/>
          </a:p>
          <a:p>
            <a:pPr algn="ctr" indent="0" marL="0">
              <a:buNone/>
            </a:pPr>
            <a:r>
              <a:rPr lang="en-US" sz="1400" dirty="0">
                <a:solidFill>
                  <a:srgbClr val="C9D6D1"/>
                </a:solidFill>
              </a:rPr>
              <a:t>feature branch</a:t>
            </a:r>
            <a:endParaRPr lang="en-US" sz="2000" dirty="0"/>
          </a:p>
        </p:txBody>
      </p:sp>
      <p:sp>
        <p:nvSpPr>
          <p:cNvPr id="5" name="service 0"/>
          <p:cNvSpPr/>
          <p:nvPr/>
        </p:nvSpPr>
        <p:spPr>
          <a:xfrm>
            <a:off x="822960" y="3794760"/>
            <a:ext cx="2743200" cy="1005840"/>
          </a:xfrm>
          <a:prstGeom prst="roundRect">
            <a:avLst>
              <a:gd name="adj" fmla="val 7273"/>
            </a:avLst>
          </a:prstGeom>
          <a:solidFill>
            <a:schemeClr val="bg2"/>
          </a:solidFill>
          <a:ln w="12700">
            <a:solidFill>
              <a:schemeClr val="bg2"/>
            </a:solidFill>
            <a:prstDash val="solid"/>
          </a:ln>
        </p:spPr>
      </p:sp>
      <p:sp>
        <p:nvSpPr>
          <p:cNvPr id="6" name="Text 4"/>
          <p:cNvSpPr txBox="1"/>
          <p:nvPr/>
        </p:nvSpPr>
        <p:spPr>
          <a:xfrm>
            <a:off x="822960" y="3794760"/>
            <a:ext cx="2743200" cy="1005840"/>
          </a:xfrm>
          <a:prstGeom prst="rect">
            <a:avLst/>
          </a:prstGeom>
          <a:noFill/>
          <a:ln/>
        </p:spPr>
        <p:txBody>
          <a:bodyPr wrap="square" lIns="0" tIns="0" rIns="0" bIns="0" rtlCol="0" anchor="ctr"/>
          <a:lstStyle/>
          <a:p>
            <a:pPr algn="ctr" indent="0" marL="0">
              <a:buNone/>
            </a:pPr>
            <a:r>
              <a:rPr lang="en-US" sz="1600" b="1" dirty="0">
                <a:solidFill>
                  <a:schemeClr val="tx2"/>
                </a:solidFill>
                <a:latin typeface="Courier New" pitchFamily="34" charset="0"/>
                <a:ea typeface="Courier New" pitchFamily="34" charset="-122"/>
                <a:cs typeface="Courier New" pitchFamily="34" charset="-120"/>
              </a:rPr>
              <a:t>ocotillo-api-testing</a:t>
            </a:r>
            <a:endParaRPr lang="en-US" sz="1600" dirty="0"/>
          </a:p>
          <a:p>
            <a:pPr algn="ctr" indent="0" marL="0">
              <a:buNone/>
            </a:pPr>
            <a:r>
              <a:rPr lang="en-US" sz="1400" dirty="0">
                <a:solidFill>
                  <a:schemeClr val="accent4"/>
                </a:solidFill>
              </a:rPr>
              <a:t>every push</a:t>
            </a:r>
            <a:endParaRPr lang="en-US" sz="1600" dirty="0"/>
          </a:p>
        </p:txBody>
      </p:sp>
      <p:sp>
        <p:nvSpPr>
          <p:cNvPr id="7" name="arrow"/>
          <p:cNvSpPr/>
          <p:nvPr/>
        </p:nvSpPr>
        <p:spPr>
          <a:xfrm>
            <a:off x="2194560" y="2606040"/>
            <a:ext cx="0" cy="1188720"/>
          </a:xfrm>
          <a:prstGeom prst="line">
            <a:avLst/>
          </a:prstGeom>
          <a:noFill/>
          <a:ln w="25400">
            <a:solidFill>
              <a:schemeClr val="accent4"/>
            </a:solidFill>
            <a:prstDash val="solid"/>
            <a:tailEnd type="triangle"/>
          </a:ln>
        </p:spPr>
      </p:sp>
      <p:sp>
        <p:nvSpPr>
          <p:cNvPr id="8" name="branch staging"/>
          <p:cNvSpPr/>
          <p:nvPr/>
        </p:nvSpPr>
        <p:spPr>
          <a:xfrm>
            <a:off x="4709160" y="1600200"/>
            <a:ext cx="2743200" cy="1005840"/>
          </a:xfrm>
          <a:prstGeom prst="roundRect">
            <a:avLst>
              <a:gd name="adj" fmla="val 7273"/>
            </a:avLst>
          </a:prstGeom>
          <a:solidFill>
            <a:schemeClr val="tx2"/>
          </a:solidFill>
          <a:ln w="12700">
            <a:solidFill>
              <a:schemeClr val="tx2"/>
            </a:solidFill>
            <a:prstDash val="solid"/>
          </a:ln>
        </p:spPr>
      </p:sp>
      <p:sp>
        <p:nvSpPr>
          <p:cNvPr id="9" name="Text 7"/>
          <p:cNvSpPr txBox="1"/>
          <p:nvPr/>
        </p:nvSpPr>
        <p:spPr>
          <a:xfrm>
            <a:off x="4709160" y="1600200"/>
            <a:ext cx="2743200" cy="1005840"/>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staging</a:t>
            </a:r>
            <a:endParaRPr lang="en-US" sz="2000" dirty="0"/>
          </a:p>
          <a:p>
            <a:pPr algn="ctr" indent="0" marL="0">
              <a:buNone/>
            </a:pPr>
            <a:r>
              <a:rPr lang="en-US" sz="1400" dirty="0">
                <a:solidFill>
                  <a:srgbClr val="C9D6D1"/>
                </a:solidFill>
              </a:rPr>
              <a:t>integration</a:t>
            </a:r>
            <a:endParaRPr lang="en-US" sz="2000" dirty="0"/>
          </a:p>
        </p:txBody>
      </p:sp>
      <p:sp>
        <p:nvSpPr>
          <p:cNvPr id="10" name="service 1"/>
          <p:cNvSpPr/>
          <p:nvPr/>
        </p:nvSpPr>
        <p:spPr>
          <a:xfrm>
            <a:off x="4709160" y="3794760"/>
            <a:ext cx="2743200" cy="1005840"/>
          </a:xfrm>
          <a:prstGeom prst="roundRect">
            <a:avLst>
              <a:gd name="adj" fmla="val 7273"/>
            </a:avLst>
          </a:prstGeom>
          <a:solidFill>
            <a:schemeClr val="bg2"/>
          </a:solidFill>
          <a:ln w="12700">
            <a:solidFill>
              <a:schemeClr val="bg2"/>
            </a:solidFill>
            <a:prstDash val="solid"/>
          </a:ln>
        </p:spPr>
      </p:sp>
      <p:sp>
        <p:nvSpPr>
          <p:cNvPr id="11" name="Text 9"/>
          <p:cNvSpPr txBox="1"/>
          <p:nvPr/>
        </p:nvSpPr>
        <p:spPr>
          <a:xfrm>
            <a:off x="4709160" y="3794760"/>
            <a:ext cx="2743200" cy="1005840"/>
          </a:xfrm>
          <a:prstGeom prst="rect">
            <a:avLst/>
          </a:prstGeom>
          <a:noFill/>
          <a:ln/>
        </p:spPr>
        <p:txBody>
          <a:bodyPr wrap="square" lIns="0" tIns="0" rIns="0" bIns="0" rtlCol="0" anchor="ctr"/>
          <a:lstStyle/>
          <a:p>
            <a:pPr algn="ctr" indent="0" marL="0">
              <a:buNone/>
            </a:pPr>
            <a:r>
              <a:rPr lang="en-US" sz="1600" b="1" dirty="0">
                <a:solidFill>
                  <a:schemeClr val="tx2"/>
                </a:solidFill>
                <a:latin typeface="Courier New" pitchFamily="34" charset="0"/>
                <a:ea typeface="Courier New" pitchFamily="34" charset="-122"/>
                <a:cs typeface="Courier New" pitchFamily="34" charset="-120"/>
              </a:rPr>
              <a:t>ocotillo-api-staging</a:t>
            </a:r>
            <a:endParaRPr lang="en-US" sz="1600" dirty="0"/>
          </a:p>
          <a:p>
            <a:pPr algn="ctr" indent="0" marL="0">
              <a:buNone/>
            </a:pPr>
            <a:r>
              <a:rPr lang="en-US" sz="1400" dirty="0">
                <a:solidFill>
                  <a:schemeClr val="accent4"/>
                </a:solidFill>
              </a:rPr>
              <a:t>every push</a:t>
            </a:r>
            <a:endParaRPr lang="en-US" sz="1600" dirty="0"/>
          </a:p>
        </p:txBody>
      </p:sp>
      <p:sp>
        <p:nvSpPr>
          <p:cNvPr id="12" name="arrow"/>
          <p:cNvSpPr/>
          <p:nvPr/>
        </p:nvSpPr>
        <p:spPr>
          <a:xfrm>
            <a:off x="6080760" y="2606040"/>
            <a:ext cx="0" cy="1188720"/>
          </a:xfrm>
          <a:prstGeom prst="line">
            <a:avLst/>
          </a:prstGeom>
          <a:noFill/>
          <a:ln w="25400">
            <a:solidFill>
              <a:schemeClr val="accent4"/>
            </a:solidFill>
            <a:prstDash val="solid"/>
            <a:tailEnd type="triangle"/>
          </a:ln>
        </p:spPr>
      </p:sp>
      <p:sp>
        <p:nvSpPr>
          <p:cNvPr id="13" name="branch production"/>
          <p:cNvSpPr/>
          <p:nvPr/>
        </p:nvSpPr>
        <p:spPr>
          <a:xfrm>
            <a:off x="8595360" y="1600200"/>
            <a:ext cx="2743200" cy="1005840"/>
          </a:xfrm>
          <a:prstGeom prst="roundRect">
            <a:avLst>
              <a:gd name="adj" fmla="val 7273"/>
            </a:avLst>
          </a:prstGeom>
          <a:solidFill>
            <a:schemeClr val="tx2"/>
          </a:solidFill>
          <a:ln w="12700">
            <a:solidFill>
              <a:schemeClr val="tx2"/>
            </a:solidFill>
            <a:prstDash val="solid"/>
          </a:ln>
        </p:spPr>
      </p:sp>
      <p:sp>
        <p:nvSpPr>
          <p:cNvPr id="14" name="Text 12"/>
          <p:cNvSpPr txBox="1"/>
          <p:nvPr/>
        </p:nvSpPr>
        <p:spPr>
          <a:xfrm>
            <a:off x="8595360" y="1600200"/>
            <a:ext cx="2743200" cy="1005840"/>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production</a:t>
            </a:r>
            <a:endParaRPr lang="en-US" sz="2000" dirty="0"/>
          </a:p>
          <a:p>
            <a:pPr algn="ctr" indent="0" marL="0">
              <a:buNone/>
            </a:pPr>
            <a:r>
              <a:rPr lang="en-US" sz="1400" dirty="0">
                <a:solidFill>
                  <a:srgbClr val="C9D6D1"/>
                </a:solidFill>
              </a:rPr>
              <a:t>release branch</a:t>
            </a:r>
            <a:endParaRPr lang="en-US" sz="2000" dirty="0"/>
          </a:p>
        </p:txBody>
      </p:sp>
      <p:sp>
        <p:nvSpPr>
          <p:cNvPr id="15" name="service 2"/>
          <p:cNvSpPr/>
          <p:nvPr/>
        </p:nvSpPr>
        <p:spPr>
          <a:xfrm>
            <a:off x="8595360" y="3794760"/>
            <a:ext cx="2743200" cy="1005840"/>
          </a:xfrm>
          <a:prstGeom prst="roundRect">
            <a:avLst>
              <a:gd name="adj" fmla="val 7273"/>
            </a:avLst>
          </a:prstGeom>
          <a:solidFill>
            <a:schemeClr val="bg2"/>
          </a:solidFill>
          <a:ln w="25400">
            <a:solidFill>
              <a:schemeClr val="accent2"/>
            </a:solidFill>
            <a:prstDash val="solid"/>
          </a:ln>
        </p:spPr>
      </p:sp>
      <p:sp>
        <p:nvSpPr>
          <p:cNvPr id="16" name="Text 14"/>
          <p:cNvSpPr txBox="1"/>
          <p:nvPr/>
        </p:nvSpPr>
        <p:spPr>
          <a:xfrm>
            <a:off x="8595360" y="3794760"/>
            <a:ext cx="2743200" cy="1005840"/>
          </a:xfrm>
          <a:prstGeom prst="rect">
            <a:avLst/>
          </a:prstGeom>
          <a:noFill/>
          <a:ln/>
        </p:spPr>
        <p:txBody>
          <a:bodyPr wrap="square" lIns="0" tIns="0" rIns="0" bIns="0" rtlCol="0" anchor="ctr"/>
          <a:lstStyle/>
          <a:p>
            <a:pPr algn="ctr" indent="0" marL="0">
              <a:buNone/>
            </a:pPr>
            <a:r>
              <a:rPr lang="en-US" sz="1600" b="1" dirty="0">
                <a:solidFill>
                  <a:schemeClr val="tx2"/>
                </a:solidFill>
                <a:latin typeface="Courier New" pitchFamily="34" charset="0"/>
                <a:ea typeface="Courier New" pitchFamily="34" charset="-122"/>
                <a:cs typeface="Courier New" pitchFamily="34" charset="-120"/>
              </a:rPr>
              <a:t>ocotillo-api</a:t>
            </a:r>
            <a:endParaRPr lang="en-US" sz="1600" dirty="0"/>
          </a:p>
          <a:p>
            <a:pPr algn="ctr" indent="0" marL="0">
              <a:buNone/>
            </a:pPr>
            <a:r>
              <a:rPr lang="en-US" sz="1400" dirty="0">
                <a:solidFill>
                  <a:schemeClr val="accent4"/>
                </a:solidFill>
              </a:rPr>
              <a:t>on tag vX.Y.Z</a:t>
            </a:r>
            <a:endParaRPr lang="en-US" sz="1600" dirty="0"/>
          </a:p>
        </p:txBody>
      </p:sp>
      <p:sp>
        <p:nvSpPr>
          <p:cNvPr id="17" name="arrow"/>
          <p:cNvSpPr/>
          <p:nvPr/>
        </p:nvSpPr>
        <p:spPr>
          <a:xfrm>
            <a:off x="9966960" y="2606040"/>
            <a:ext cx="0" cy="1188720"/>
          </a:xfrm>
          <a:prstGeom prst="line">
            <a:avLst/>
          </a:prstGeom>
          <a:noFill/>
          <a:ln w="25400">
            <a:solidFill>
              <a:schemeClr val="accent4"/>
            </a:solidFill>
            <a:prstDash val="solid"/>
            <a:tailEnd type="triangle"/>
          </a:ln>
        </p:spPr>
      </p:sp>
      <p:sp>
        <p:nvSpPr>
          <p:cNvPr id="18" name="arrow"/>
          <p:cNvSpPr/>
          <p:nvPr/>
        </p:nvSpPr>
        <p:spPr>
          <a:xfrm>
            <a:off x="3566160" y="2103120"/>
            <a:ext cx="1143000" cy="0"/>
          </a:xfrm>
          <a:prstGeom prst="line">
            <a:avLst/>
          </a:prstGeom>
          <a:noFill/>
          <a:ln w="25400">
            <a:solidFill>
              <a:schemeClr val="accent1"/>
            </a:solidFill>
            <a:prstDash val="solid"/>
            <a:tailEnd type="triangle"/>
          </a:ln>
        </p:spPr>
      </p:sp>
      <p:sp>
        <p:nvSpPr>
          <p:cNvPr id="19" name="arrow"/>
          <p:cNvSpPr/>
          <p:nvPr/>
        </p:nvSpPr>
        <p:spPr>
          <a:xfrm>
            <a:off x="7452360" y="2103120"/>
            <a:ext cx="1143000" cy="0"/>
          </a:xfrm>
          <a:prstGeom prst="line">
            <a:avLst/>
          </a:prstGeom>
          <a:noFill/>
          <a:ln w="25400">
            <a:solidFill>
              <a:schemeClr val="accent1"/>
            </a:solidFill>
            <a:prstDash val="solid"/>
            <a:tailEnd type="triangle"/>
          </a:ln>
        </p:spPr>
      </p:sp>
      <p:sp>
        <p:nvSpPr>
          <p:cNvPr id="20" name="Text 18"/>
          <p:cNvSpPr txBox="1"/>
          <p:nvPr/>
        </p:nvSpPr>
        <p:spPr>
          <a:xfrm>
            <a:off x="3566160" y="1600200"/>
            <a:ext cx="1143000" cy="457200"/>
          </a:xfrm>
          <a:prstGeom prst="rect">
            <a:avLst/>
          </a:prstGeom>
          <a:noFill/>
          <a:ln/>
        </p:spPr>
        <p:txBody>
          <a:bodyPr wrap="square" lIns="0" tIns="0" rIns="0" bIns="0" rtlCol="0" anchor="ctr"/>
          <a:lstStyle/>
          <a:p>
            <a:pPr algn="ctr" indent="0" marL="0">
              <a:buNone/>
            </a:pPr>
            <a:r>
              <a:rPr lang="en-US" sz="1300" b="1" dirty="0">
                <a:solidFill>
                  <a:schemeClr val="accent1"/>
                </a:solidFill>
              </a:rPr>
              <a:t>PR</a:t>
            </a:r>
            <a:endParaRPr lang="en-US" sz="1300" dirty="0"/>
          </a:p>
        </p:txBody>
      </p:sp>
      <p:sp>
        <p:nvSpPr>
          <p:cNvPr id="21" name="Text 19"/>
          <p:cNvSpPr txBox="1"/>
          <p:nvPr/>
        </p:nvSpPr>
        <p:spPr>
          <a:xfrm>
            <a:off x="7452360" y="1600200"/>
            <a:ext cx="1143000" cy="457200"/>
          </a:xfrm>
          <a:prstGeom prst="rect">
            <a:avLst/>
          </a:prstGeom>
          <a:noFill/>
          <a:ln/>
        </p:spPr>
        <p:txBody>
          <a:bodyPr wrap="square" lIns="0" tIns="0" rIns="0" bIns="0" rtlCol="0" anchor="ctr"/>
          <a:lstStyle/>
          <a:p>
            <a:pPr algn="ctr" indent="0" marL="0">
              <a:buNone/>
            </a:pPr>
            <a:r>
              <a:rPr lang="en-US" sz="1300" b="1" dirty="0">
                <a:solidFill>
                  <a:schemeClr val="accent1"/>
                </a:solidFill>
              </a:rPr>
              <a:t>promotion PR</a:t>
            </a:r>
            <a:endParaRPr lang="en-US" sz="1300" dirty="0"/>
          </a:p>
        </p:txBody>
      </p:sp>
      <p:sp>
        <p:nvSpPr>
          <p:cNvPr id="22" name="approval gate"/>
          <p:cNvSpPr/>
          <p:nvPr/>
        </p:nvSpPr>
        <p:spPr>
          <a:xfrm>
            <a:off x="7955280" y="2971800"/>
            <a:ext cx="1828800" cy="457200"/>
          </a:xfrm>
          <a:prstGeom prst="roundRect">
            <a:avLst>
              <a:gd name="adj" fmla="val 12000"/>
            </a:avLst>
          </a:prstGeom>
          <a:solidFill>
            <a:schemeClr val="accent6"/>
          </a:solidFill>
          <a:ln w="12700">
            <a:solidFill>
              <a:schemeClr val="accent3"/>
            </a:solidFill>
            <a:prstDash val="solid"/>
          </a:ln>
        </p:spPr>
      </p:sp>
      <p:sp>
        <p:nvSpPr>
          <p:cNvPr id="23" name="Text 21"/>
          <p:cNvSpPr txBox="1"/>
          <p:nvPr/>
        </p:nvSpPr>
        <p:spPr>
          <a:xfrm>
            <a:off x="7955280" y="2971800"/>
            <a:ext cx="1828800" cy="457200"/>
          </a:xfrm>
          <a:prstGeom prst="rect">
            <a:avLst/>
          </a:prstGeom>
          <a:noFill/>
          <a:ln/>
        </p:spPr>
        <p:txBody>
          <a:bodyPr wrap="square" lIns="0" tIns="0" rIns="0" bIns="0" rtlCol="0" anchor="ctr"/>
          <a:lstStyle/>
          <a:p>
            <a:pPr algn="ctr" indent="0" marL="0">
              <a:buNone/>
            </a:pPr>
            <a:r>
              <a:rPr lang="en-US" sz="1300" b="1" dirty="0">
                <a:solidFill>
                  <a:schemeClr val="tx1"/>
                </a:solidFill>
              </a:rPr>
              <a:t>Deployer approval</a:t>
            </a:r>
            <a:endParaRPr lang="en-US" sz="1300" dirty="0"/>
          </a:p>
        </p:txBody>
      </p:sp>
      <p:sp>
        <p:nvSpPr>
          <p:cNvPr id="24" name="Text 22"/>
          <p:cNvSpPr txBox="1"/>
          <p:nvPr/>
        </p:nvSpPr>
        <p:spPr>
          <a:xfrm>
            <a:off x="822960" y="5257800"/>
            <a:ext cx="10515600" cy="548640"/>
          </a:xfrm>
          <a:prstGeom prst="rect">
            <a:avLst/>
          </a:prstGeom>
          <a:noFill/>
          <a:ln/>
        </p:spPr>
        <p:txBody>
          <a:bodyPr wrap="square" lIns="0" tIns="0" rIns="0" bIns="0" rtlCol="0" anchor="ctr"/>
          <a:lstStyle/>
          <a:p>
            <a:pPr indent="0" marL="0">
              <a:buNone/>
            </a:pPr>
            <a:r>
              <a:rPr lang="en-US" sz="1600" dirty="0">
                <a:solidFill>
                  <a:schemeClr val="tx1"/>
                </a:solidFill>
              </a:rPr>
              <a:t>Only production is versioned. Staging deploys every push with no tag, so test the commit you plan to ship.</a:t>
            </a:r>
            <a:endParaRPr lang="en-US" sz="1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A release in ten steps</a:t>
            </a:r>
            <a:endParaRPr lang="en-US" sz="3600" dirty="0"/>
          </a:p>
        </p:txBody>
      </p:sp>
      <p:sp>
        <p:nvSpPr>
          <p:cNvPr id="3" name="phase Before"/>
          <p:cNvSpPr/>
          <p:nvPr/>
        </p:nvSpPr>
        <p:spPr>
          <a:xfrm>
            <a:off x="548640" y="1417320"/>
            <a:ext cx="3520440" cy="4343400"/>
          </a:xfrm>
          <a:prstGeom prst="roundRect">
            <a:avLst>
              <a:gd name="adj" fmla="val 2078"/>
            </a:avLst>
          </a:prstGeom>
          <a:solidFill>
            <a:schemeClr val="bg2"/>
          </a:solidFill>
          <a:ln w="12700">
            <a:solidFill>
              <a:schemeClr val="bg2"/>
            </a:solidFill>
            <a:prstDash val="solid"/>
          </a:ln>
        </p:spPr>
      </p:sp>
      <p:sp>
        <p:nvSpPr>
          <p:cNvPr id="4" name="Text 2"/>
          <p:cNvSpPr txBox="1"/>
          <p:nvPr/>
        </p:nvSpPr>
        <p:spPr>
          <a:xfrm>
            <a:off x="822960" y="1554480"/>
            <a:ext cx="2971800" cy="502920"/>
          </a:xfrm>
          <a:prstGeom prst="rect">
            <a:avLst/>
          </a:prstGeom>
          <a:noFill/>
          <a:ln/>
        </p:spPr>
        <p:txBody>
          <a:bodyPr wrap="square" lIns="0" tIns="0" rIns="0" bIns="0" rtlCol="0" anchor="ctr"/>
          <a:lstStyle/>
          <a:p>
            <a:pPr indent="0" marL="0">
              <a:buNone/>
            </a:pPr>
            <a:r>
              <a:rPr lang="en-US" sz="2200" b="1" dirty="0">
                <a:solidFill>
                  <a:schemeClr val="tx2"/>
                </a:solidFill>
              </a:rPr>
              <a:t>Before</a:t>
            </a:r>
            <a:endParaRPr lang="en-US" sz="2200" dirty="0"/>
          </a:p>
        </p:txBody>
      </p:sp>
      <p:sp>
        <p:nvSpPr>
          <p:cNvPr id="5" name="step 1"/>
          <p:cNvSpPr/>
          <p:nvPr/>
        </p:nvSpPr>
        <p:spPr>
          <a:xfrm>
            <a:off x="822960" y="2295144"/>
            <a:ext cx="438912" cy="438912"/>
          </a:xfrm>
          <a:prstGeom prst="ellipse">
            <a:avLst/>
          </a:prstGeom>
          <a:solidFill>
            <a:schemeClr val="accent2"/>
          </a:solidFill>
          <a:ln w="12700">
            <a:solidFill>
              <a:schemeClr val="accent2"/>
            </a:solidFill>
            <a:prstDash val="solid"/>
          </a:ln>
        </p:spPr>
      </p:sp>
      <p:sp>
        <p:nvSpPr>
          <p:cNvPr id="6" name="step 1 number"/>
          <p:cNvSpPr txBox="1"/>
          <p:nvPr/>
        </p:nvSpPr>
        <p:spPr>
          <a:xfrm>
            <a:off x="822960" y="229514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417320" y="2240280"/>
            <a:ext cx="2468880" cy="566928"/>
          </a:xfrm>
          <a:prstGeom prst="rect">
            <a:avLst/>
          </a:prstGeom>
          <a:noFill/>
          <a:ln/>
        </p:spPr>
        <p:txBody>
          <a:bodyPr wrap="square" lIns="0" tIns="0" rIns="0" bIns="0" rtlCol="0" anchor="ctr"/>
          <a:lstStyle/>
          <a:p>
            <a:pPr indent="0" marL="0">
              <a:buNone/>
            </a:pPr>
            <a:r>
              <a:rPr lang="en-US" sz="1500" dirty="0">
                <a:solidFill>
                  <a:schemeClr val="tx1"/>
                </a:solidFill>
              </a:rPr>
              <a:t>Freeze staging until promotion merges</a:t>
            </a:r>
            <a:endParaRPr lang="en-US" sz="1500" dirty="0"/>
          </a:p>
        </p:txBody>
      </p:sp>
      <p:sp>
        <p:nvSpPr>
          <p:cNvPr id="8" name="step 2"/>
          <p:cNvSpPr/>
          <p:nvPr/>
        </p:nvSpPr>
        <p:spPr>
          <a:xfrm>
            <a:off x="822960" y="3136392"/>
            <a:ext cx="438912" cy="438912"/>
          </a:xfrm>
          <a:prstGeom prst="ellipse">
            <a:avLst/>
          </a:prstGeom>
          <a:solidFill>
            <a:schemeClr val="accent1"/>
          </a:solidFill>
          <a:ln w="12700">
            <a:solidFill>
              <a:schemeClr val="accent1"/>
            </a:solidFill>
            <a:prstDash val="solid"/>
          </a:ln>
        </p:spPr>
      </p:sp>
      <p:sp>
        <p:nvSpPr>
          <p:cNvPr id="9" name="step 2 number"/>
          <p:cNvSpPr txBox="1"/>
          <p:nvPr/>
        </p:nvSpPr>
        <p:spPr>
          <a:xfrm>
            <a:off x="822960" y="313639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1417320" y="3081528"/>
            <a:ext cx="2468880" cy="566928"/>
          </a:xfrm>
          <a:prstGeom prst="rect">
            <a:avLst/>
          </a:prstGeom>
          <a:noFill/>
          <a:ln/>
        </p:spPr>
        <p:txBody>
          <a:bodyPr wrap="square" lIns="0" tIns="0" rIns="0" bIns="0" rtlCol="0" anchor="ctr"/>
          <a:lstStyle/>
          <a:p>
            <a:pPr indent="0" marL="0">
              <a:buNone/>
            </a:pPr>
            <a:r>
              <a:rPr lang="en-US" sz="1500" dirty="0">
                <a:solidFill>
                  <a:schemeClr val="tx1"/>
                </a:solidFill>
              </a:rPr>
              <a:t>Back up Cloud SQL if data migrations ship</a:t>
            </a:r>
            <a:endParaRPr lang="en-US" sz="1500" dirty="0"/>
          </a:p>
        </p:txBody>
      </p:sp>
      <p:sp>
        <p:nvSpPr>
          <p:cNvPr id="11" name="step 3"/>
          <p:cNvSpPr/>
          <p:nvPr/>
        </p:nvSpPr>
        <p:spPr>
          <a:xfrm>
            <a:off x="822960" y="3977640"/>
            <a:ext cx="438912" cy="438912"/>
          </a:xfrm>
          <a:prstGeom prst="ellipse">
            <a:avLst/>
          </a:prstGeom>
          <a:solidFill>
            <a:schemeClr val="accent2"/>
          </a:solidFill>
          <a:ln w="12700">
            <a:solidFill>
              <a:schemeClr val="accent2"/>
            </a:solidFill>
            <a:prstDash val="solid"/>
          </a:ln>
        </p:spPr>
      </p:sp>
      <p:sp>
        <p:nvSpPr>
          <p:cNvPr id="12" name="step 3 number"/>
          <p:cNvSpPr txBox="1"/>
          <p:nvPr/>
        </p:nvSpPr>
        <p:spPr>
          <a:xfrm>
            <a:off x="822960" y="39776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1417320" y="3922776"/>
            <a:ext cx="2468880" cy="566928"/>
          </a:xfrm>
          <a:prstGeom prst="rect">
            <a:avLst/>
          </a:prstGeom>
          <a:noFill/>
          <a:ln/>
        </p:spPr>
        <p:txBody>
          <a:bodyPr wrap="square" lIns="0" tIns="0" rIns="0" bIns="0" rtlCol="0" anchor="ctr"/>
          <a:lstStyle/>
          <a:p>
            <a:pPr indent="0" marL="0">
              <a:buNone/>
            </a:pPr>
            <a:r>
              <a:rPr lang="en-US" sz="1500" dirty="0">
                <a:solidFill>
                  <a:schemeClr val="tx1"/>
                </a:solidFill>
              </a:rPr>
              <a:t>Note the serving version (rollback target)</a:t>
            </a:r>
            <a:endParaRPr lang="en-US" sz="1500" dirty="0"/>
          </a:p>
        </p:txBody>
      </p:sp>
      <p:sp>
        <p:nvSpPr>
          <p:cNvPr id="14" name="phase Ship"/>
          <p:cNvSpPr/>
          <p:nvPr/>
        </p:nvSpPr>
        <p:spPr>
          <a:xfrm>
            <a:off x="4334256" y="1417320"/>
            <a:ext cx="3520440" cy="4343400"/>
          </a:xfrm>
          <a:prstGeom prst="roundRect">
            <a:avLst>
              <a:gd name="adj" fmla="val 2078"/>
            </a:avLst>
          </a:prstGeom>
          <a:solidFill>
            <a:schemeClr val="bg2"/>
          </a:solidFill>
          <a:ln w="12700">
            <a:solidFill>
              <a:schemeClr val="bg2"/>
            </a:solidFill>
            <a:prstDash val="solid"/>
          </a:ln>
        </p:spPr>
      </p:sp>
      <p:sp>
        <p:nvSpPr>
          <p:cNvPr id="15" name="Text 13"/>
          <p:cNvSpPr txBox="1"/>
          <p:nvPr/>
        </p:nvSpPr>
        <p:spPr>
          <a:xfrm>
            <a:off x="4608576" y="1554480"/>
            <a:ext cx="2971800" cy="502920"/>
          </a:xfrm>
          <a:prstGeom prst="rect">
            <a:avLst/>
          </a:prstGeom>
          <a:noFill/>
          <a:ln/>
        </p:spPr>
        <p:txBody>
          <a:bodyPr wrap="square" lIns="0" tIns="0" rIns="0" bIns="0" rtlCol="0" anchor="ctr"/>
          <a:lstStyle/>
          <a:p>
            <a:pPr indent="0" marL="0">
              <a:buNone/>
            </a:pPr>
            <a:r>
              <a:rPr lang="en-US" sz="2200" b="1" dirty="0">
                <a:solidFill>
                  <a:schemeClr val="tx2"/>
                </a:solidFill>
              </a:rPr>
              <a:t>Ship</a:t>
            </a:r>
            <a:endParaRPr lang="en-US" sz="2200" dirty="0"/>
          </a:p>
        </p:txBody>
      </p:sp>
      <p:sp>
        <p:nvSpPr>
          <p:cNvPr id="16" name="step 4"/>
          <p:cNvSpPr/>
          <p:nvPr/>
        </p:nvSpPr>
        <p:spPr>
          <a:xfrm>
            <a:off x="4608576" y="2295144"/>
            <a:ext cx="438912" cy="438912"/>
          </a:xfrm>
          <a:prstGeom prst="ellipse">
            <a:avLst/>
          </a:prstGeom>
          <a:solidFill>
            <a:schemeClr val="accent1"/>
          </a:solidFill>
          <a:ln w="12700">
            <a:solidFill>
              <a:schemeClr val="accent1"/>
            </a:solidFill>
            <a:prstDash val="solid"/>
          </a:ln>
        </p:spPr>
      </p:sp>
      <p:sp>
        <p:nvSpPr>
          <p:cNvPr id="17" name="step 4 number"/>
          <p:cNvSpPr txBox="1"/>
          <p:nvPr/>
        </p:nvSpPr>
        <p:spPr>
          <a:xfrm>
            <a:off x="4608576" y="229514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6"/>
          <p:cNvSpPr txBox="1"/>
          <p:nvPr/>
        </p:nvSpPr>
        <p:spPr>
          <a:xfrm>
            <a:off x="5202936" y="2240280"/>
            <a:ext cx="2468880" cy="566928"/>
          </a:xfrm>
          <a:prstGeom prst="rect">
            <a:avLst/>
          </a:prstGeom>
          <a:noFill/>
          <a:ln/>
        </p:spPr>
        <p:txBody>
          <a:bodyPr wrap="square" lIns="0" tIns="0" rIns="0" bIns="0" rtlCol="0" anchor="ctr"/>
          <a:lstStyle/>
          <a:p>
            <a:pPr indent="0" marL="0">
              <a:buNone/>
            </a:pPr>
            <a:r>
              <a:rPr lang="en-US" sz="1500" dirty="0">
                <a:solidFill>
                  <a:schemeClr val="tx1"/>
                </a:solidFill>
              </a:rPr>
              <a:t>Merge promotion PR staging → production</a:t>
            </a:r>
            <a:endParaRPr lang="en-US" sz="1500" dirty="0"/>
          </a:p>
        </p:txBody>
      </p:sp>
      <p:sp>
        <p:nvSpPr>
          <p:cNvPr id="19" name="step 5"/>
          <p:cNvSpPr/>
          <p:nvPr/>
        </p:nvSpPr>
        <p:spPr>
          <a:xfrm>
            <a:off x="4608576" y="3136392"/>
            <a:ext cx="438912" cy="438912"/>
          </a:xfrm>
          <a:prstGeom prst="ellipse">
            <a:avLst/>
          </a:prstGeom>
          <a:solidFill>
            <a:schemeClr val="accent2"/>
          </a:solidFill>
          <a:ln w="12700">
            <a:solidFill>
              <a:schemeClr val="accent2"/>
            </a:solidFill>
            <a:prstDash val="solid"/>
          </a:ln>
        </p:spPr>
      </p:sp>
      <p:sp>
        <p:nvSpPr>
          <p:cNvPr id="20" name="step 5 number"/>
          <p:cNvSpPr txBox="1"/>
          <p:nvPr/>
        </p:nvSpPr>
        <p:spPr>
          <a:xfrm>
            <a:off x="4608576" y="313639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Text 19"/>
          <p:cNvSpPr txBox="1"/>
          <p:nvPr/>
        </p:nvSpPr>
        <p:spPr>
          <a:xfrm>
            <a:off x="5202936" y="3081528"/>
            <a:ext cx="2468880" cy="566928"/>
          </a:xfrm>
          <a:prstGeom prst="rect">
            <a:avLst/>
          </a:prstGeom>
          <a:noFill/>
          <a:ln/>
        </p:spPr>
        <p:txBody>
          <a:bodyPr wrap="square" lIns="0" tIns="0" rIns="0" bIns="0" rtlCol="0" anchor="ctr"/>
          <a:lstStyle/>
          <a:p>
            <a:pPr indent="0" marL="0">
              <a:buNone/>
            </a:pPr>
            <a:r>
              <a:rPr lang="en-US" sz="1500" dirty="0">
                <a:solidFill>
                  <a:schemeClr val="tx1"/>
                </a:solidFill>
              </a:rPr>
              <a:t>Release PR merges itself</a:t>
            </a:r>
            <a:endParaRPr lang="en-US" sz="1500" dirty="0"/>
          </a:p>
        </p:txBody>
      </p:sp>
      <p:sp>
        <p:nvSpPr>
          <p:cNvPr id="22" name="step 6"/>
          <p:cNvSpPr/>
          <p:nvPr/>
        </p:nvSpPr>
        <p:spPr>
          <a:xfrm>
            <a:off x="4608576" y="3977640"/>
            <a:ext cx="438912" cy="438912"/>
          </a:xfrm>
          <a:prstGeom prst="ellipse">
            <a:avLst/>
          </a:prstGeom>
          <a:solidFill>
            <a:schemeClr val="accent2"/>
          </a:solidFill>
          <a:ln w="12700">
            <a:solidFill>
              <a:schemeClr val="accent2"/>
            </a:solidFill>
            <a:prstDash val="solid"/>
          </a:ln>
        </p:spPr>
      </p:sp>
      <p:sp>
        <p:nvSpPr>
          <p:cNvPr id="23" name="step 6 number"/>
          <p:cNvSpPr txBox="1"/>
          <p:nvPr/>
        </p:nvSpPr>
        <p:spPr>
          <a:xfrm>
            <a:off x="4608576" y="39776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4" name="Text 22"/>
          <p:cNvSpPr txBox="1"/>
          <p:nvPr/>
        </p:nvSpPr>
        <p:spPr>
          <a:xfrm>
            <a:off x="5202936" y="3922776"/>
            <a:ext cx="2468880" cy="566928"/>
          </a:xfrm>
          <a:prstGeom prst="rect">
            <a:avLst/>
          </a:prstGeom>
          <a:noFill/>
          <a:ln/>
        </p:spPr>
        <p:txBody>
          <a:bodyPr wrap="square" lIns="0" tIns="0" rIns="0" bIns="0" rtlCol="0" anchor="ctr"/>
          <a:lstStyle/>
          <a:p>
            <a:pPr indent="0" marL="0">
              <a:buNone/>
            </a:pPr>
            <a:r>
              <a:rPr lang="en-US" sz="1500" dirty="0">
                <a:solidFill>
                  <a:schemeClr val="tx1"/>
                </a:solidFill>
              </a:rPr>
              <a:t>Confirm deploy-production ran, not skipped</a:t>
            </a:r>
            <a:endParaRPr lang="en-US" sz="1500" dirty="0"/>
          </a:p>
        </p:txBody>
      </p:sp>
      <p:sp>
        <p:nvSpPr>
          <p:cNvPr id="25" name="step 7"/>
          <p:cNvSpPr/>
          <p:nvPr/>
        </p:nvSpPr>
        <p:spPr>
          <a:xfrm>
            <a:off x="4608576" y="4818888"/>
            <a:ext cx="438912" cy="438912"/>
          </a:xfrm>
          <a:prstGeom prst="ellipse">
            <a:avLst/>
          </a:prstGeom>
          <a:solidFill>
            <a:schemeClr val="accent2"/>
          </a:solidFill>
          <a:ln w="12700">
            <a:solidFill>
              <a:schemeClr val="accent2"/>
            </a:solidFill>
            <a:prstDash val="solid"/>
          </a:ln>
        </p:spPr>
      </p:sp>
      <p:sp>
        <p:nvSpPr>
          <p:cNvPr id="26" name="step 7 number"/>
          <p:cNvSpPr txBox="1"/>
          <p:nvPr/>
        </p:nvSpPr>
        <p:spPr>
          <a:xfrm>
            <a:off x="4608576" y="4818888"/>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27" name="Text 25"/>
          <p:cNvSpPr txBox="1"/>
          <p:nvPr/>
        </p:nvSpPr>
        <p:spPr>
          <a:xfrm>
            <a:off x="5202936" y="4764024"/>
            <a:ext cx="2468880" cy="566928"/>
          </a:xfrm>
          <a:prstGeom prst="rect">
            <a:avLst/>
          </a:prstGeom>
          <a:noFill/>
          <a:ln/>
        </p:spPr>
        <p:txBody>
          <a:bodyPr wrap="square" lIns="0" tIns="0" rIns="0" bIns="0" rtlCol="0" anchor="ctr"/>
          <a:lstStyle/>
          <a:p>
            <a:pPr indent="0" marL="0">
              <a:buNone/>
            </a:pPr>
            <a:r>
              <a:rPr lang="en-US" sz="1500" dirty="0">
                <a:solidFill>
                  <a:schemeClr val="tx1"/>
                </a:solidFill>
              </a:rPr>
              <a:t>Second Deployer approves</a:t>
            </a:r>
            <a:endParaRPr lang="en-US" sz="1500" dirty="0"/>
          </a:p>
        </p:txBody>
      </p:sp>
      <p:sp>
        <p:nvSpPr>
          <p:cNvPr id="28" name="phase After"/>
          <p:cNvSpPr/>
          <p:nvPr/>
        </p:nvSpPr>
        <p:spPr>
          <a:xfrm>
            <a:off x="8119872" y="1417320"/>
            <a:ext cx="3520440" cy="4343400"/>
          </a:xfrm>
          <a:prstGeom prst="roundRect">
            <a:avLst>
              <a:gd name="adj" fmla="val 2078"/>
            </a:avLst>
          </a:prstGeom>
          <a:solidFill>
            <a:schemeClr val="bg2"/>
          </a:solidFill>
          <a:ln w="12700">
            <a:solidFill>
              <a:schemeClr val="bg2"/>
            </a:solidFill>
            <a:prstDash val="solid"/>
          </a:ln>
        </p:spPr>
      </p:sp>
      <p:sp>
        <p:nvSpPr>
          <p:cNvPr id="29" name="Text 27"/>
          <p:cNvSpPr txBox="1"/>
          <p:nvPr/>
        </p:nvSpPr>
        <p:spPr>
          <a:xfrm>
            <a:off x="8394192" y="1554480"/>
            <a:ext cx="2971800" cy="502920"/>
          </a:xfrm>
          <a:prstGeom prst="rect">
            <a:avLst/>
          </a:prstGeom>
          <a:noFill/>
          <a:ln/>
        </p:spPr>
        <p:txBody>
          <a:bodyPr wrap="square" lIns="0" tIns="0" rIns="0" bIns="0" rtlCol="0" anchor="ctr"/>
          <a:lstStyle/>
          <a:p>
            <a:pPr indent="0" marL="0">
              <a:buNone/>
            </a:pPr>
            <a:r>
              <a:rPr lang="en-US" sz="2200" b="1" dirty="0">
                <a:solidFill>
                  <a:schemeClr val="tx2"/>
                </a:solidFill>
              </a:rPr>
              <a:t>After</a:t>
            </a:r>
            <a:endParaRPr lang="en-US" sz="2200" dirty="0"/>
          </a:p>
        </p:txBody>
      </p:sp>
      <p:sp>
        <p:nvSpPr>
          <p:cNvPr id="30" name="step 8"/>
          <p:cNvSpPr/>
          <p:nvPr/>
        </p:nvSpPr>
        <p:spPr>
          <a:xfrm>
            <a:off x="8394192" y="2295144"/>
            <a:ext cx="438912" cy="438912"/>
          </a:xfrm>
          <a:prstGeom prst="ellipse">
            <a:avLst/>
          </a:prstGeom>
          <a:solidFill>
            <a:schemeClr val="accent2"/>
          </a:solidFill>
          <a:ln w="12700">
            <a:solidFill>
              <a:schemeClr val="accent2"/>
            </a:solidFill>
            <a:prstDash val="solid"/>
          </a:ln>
        </p:spPr>
      </p:sp>
      <p:sp>
        <p:nvSpPr>
          <p:cNvPr id="31" name="step 8 number"/>
          <p:cNvSpPr txBox="1"/>
          <p:nvPr/>
        </p:nvSpPr>
        <p:spPr>
          <a:xfrm>
            <a:off x="8394192" y="229514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32" name="Text 30"/>
          <p:cNvSpPr txBox="1"/>
          <p:nvPr/>
        </p:nvSpPr>
        <p:spPr>
          <a:xfrm>
            <a:off x="8988552" y="2240280"/>
            <a:ext cx="2468880" cy="566928"/>
          </a:xfrm>
          <a:prstGeom prst="rect">
            <a:avLst/>
          </a:prstGeom>
          <a:noFill/>
          <a:ln/>
        </p:spPr>
        <p:txBody>
          <a:bodyPr wrap="square" lIns="0" tIns="0" rIns="0" bIns="0" rtlCol="0" anchor="ctr"/>
          <a:lstStyle/>
          <a:p>
            <a:pPr indent="0" marL="0">
              <a:buNone/>
            </a:pPr>
            <a:r>
              <a:rPr lang="en-US" sz="1500" dirty="0">
                <a:solidFill>
                  <a:schemeClr val="tx1"/>
                </a:solidFill>
              </a:rPr>
              <a:t>Run pending data migrations</a:t>
            </a:r>
            <a:endParaRPr lang="en-US" sz="1500" dirty="0"/>
          </a:p>
        </p:txBody>
      </p:sp>
      <p:sp>
        <p:nvSpPr>
          <p:cNvPr id="33" name="step 9"/>
          <p:cNvSpPr/>
          <p:nvPr/>
        </p:nvSpPr>
        <p:spPr>
          <a:xfrm>
            <a:off x="8394192" y="3136392"/>
            <a:ext cx="438912" cy="438912"/>
          </a:xfrm>
          <a:prstGeom prst="ellipse">
            <a:avLst/>
          </a:prstGeom>
          <a:solidFill>
            <a:schemeClr val="accent1"/>
          </a:solidFill>
          <a:ln w="12700">
            <a:solidFill>
              <a:schemeClr val="accent1"/>
            </a:solidFill>
            <a:prstDash val="solid"/>
          </a:ln>
        </p:spPr>
      </p:sp>
      <p:sp>
        <p:nvSpPr>
          <p:cNvPr id="34" name="step 9 number"/>
          <p:cNvSpPr txBox="1"/>
          <p:nvPr/>
        </p:nvSpPr>
        <p:spPr>
          <a:xfrm>
            <a:off x="8394192" y="313639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9</a:t>
            </a:r>
            <a:endParaRPr lang="en-US" sz="1500" dirty="0"/>
          </a:p>
        </p:txBody>
      </p:sp>
      <p:sp>
        <p:nvSpPr>
          <p:cNvPr id="35" name="Text 33"/>
          <p:cNvSpPr txBox="1"/>
          <p:nvPr/>
        </p:nvSpPr>
        <p:spPr>
          <a:xfrm>
            <a:off x="8988552" y="3081528"/>
            <a:ext cx="2468880" cy="566928"/>
          </a:xfrm>
          <a:prstGeom prst="rect">
            <a:avLst/>
          </a:prstGeom>
          <a:noFill/>
          <a:ln/>
        </p:spPr>
        <p:txBody>
          <a:bodyPr wrap="square" lIns="0" tIns="0" rIns="0" bIns="0" rtlCol="0" anchor="ctr"/>
          <a:lstStyle/>
          <a:p>
            <a:pPr indent="0" marL="0">
              <a:buNone/>
            </a:pPr>
            <a:r>
              <a:rPr lang="en-US" sz="1500" dirty="0">
                <a:solidFill>
                  <a:schemeClr val="tx1"/>
                </a:solidFill>
              </a:rPr>
              <a:t>Merge back-merge PR to staging</a:t>
            </a:r>
            <a:endParaRPr lang="en-US" sz="1500" dirty="0"/>
          </a:p>
        </p:txBody>
      </p:sp>
      <p:sp>
        <p:nvSpPr>
          <p:cNvPr id="36" name="step 10"/>
          <p:cNvSpPr/>
          <p:nvPr/>
        </p:nvSpPr>
        <p:spPr>
          <a:xfrm>
            <a:off x="8394192" y="3977640"/>
            <a:ext cx="438912" cy="438912"/>
          </a:xfrm>
          <a:prstGeom prst="ellipse">
            <a:avLst/>
          </a:prstGeom>
          <a:solidFill>
            <a:schemeClr val="accent1"/>
          </a:solidFill>
          <a:ln w="12700">
            <a:solidFill>
              <a:schemeClr val="accent1"/>
            </a:solidFill>
            <a:prstDash val="solid"/>
          </a:ln>
        </p:spPr>
      </p:sp>
      <p:sp>
        <p:nvSpPr>
          <p:cNvPr id="37" name="step 10 number"/>
          <p:cNvSpPr txBox="1"/>
          <p:nvPr/>
        </p:nvSpPr>
        <p:spPr>
          <a:xfrm>
            <a:off x="8394192" y="39776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10</a:t>
            </a:r>
            <a:endParaRPr lang="en-US" sz="1500" dirty="0"/>
          </a:p>
        </p:txBody>
      </p:sp>
      <p:sp>
        <p:nvSpPr>
          <p:cNvPr id="38" name="Text 36"/>
          <p:cNvSpPr txBox="1"/>
          <p:nvPr/>
        </p:nvSpPr>
        <p:spPr>
          <a:xfrm>
            <a:off x="8988552" y="3922776"/>
            <a:ext cx="2468880" cy="566928"/>
          </a:xfrm>
          <a:prstGeom prst="rect">
            <a:avLst/>
          </a:prstGeom>
          <a:noFill/>
          <a:ln/>
        </p:spPr>
        <p:txBody>
          <a:bodyPr wrap="square" lIns="0" tIns="0" rIns="0" bIns="0" rtlCol="0" anchor="ctr"/>
          <a:lstStyle/>
          <a:p>
            <a:pPr indent="0" marL="0">
              <a:buNone/>
            </a:pPr>
            <a:r>
              <a:rPr lang="en-US" sz="1500" dirty="0">
                <a:solidFill>
                  <a:schemeClr val="tx1"/>
                </a:solidFill>
              </a:rPr>
              <a:t>Promote the UI (API first)</a:t>
            </a:r>
            <a:endParaRPr lang="en-US" sz="1500" dirty="0"/>
          </a:p>
        </p:txBody>
      </p:sp>
      <p:sp>
        <p:nvSpPr>
          <p:cNvPr id="39" name="step !"/>
          <p:cNvSpPr/>
          <p:nvPr/>
        </p:nvSpPr>
        <p:spPr>
          <a:xfrm>
            <a:off x="548640" y="5897880"/>
            <a:ext cx="292608" cy="292608"/>
          </a:xfrm>
          <a:prstGeom prst="ellipse">
            <a:avLst/>
          </a:prstGeom>
          <a:solidFill>
            <a:schemeClr val="accent2"/>
          </a:solidFill>
          <a:ln w="12700">
            <a:solidFill>
              <a:schemeClr val="accent2"/>
            </a:solidFill>
            <a:prstDash val="solid"/>
          </a:ln>
        </p:spPr>
      </p:sp>
      <p:sp>
        <p:nvSpPr>
          <p:cNvPr id="40" name="step ! number"/>
          <p:cNvSpPr txBox="1"/>
          <p:nvPr/>
        </p:nvSpPr>
        <p:spPr>
          <a:xfrm>
            <a:off x="548640" y="5897880"/>
            <a:ext cx="292608" cy="292608"/>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41" name="Text 39"/>
          <p:cNvSpPr txBox="1"/>
          <p:nvPr/>
        </p:nvSpPr>
        <p:spPr>
          <a:xfrm>
            <a:off x="960120" y="5870448"/>
            <a:ext cx="5486400" cy="347472"/>
          </a:xfrm>
          <a:prstGeom prst="rect">
            <a:avLst/>
          </a:prstGeom>
          <a:noFill/>
          <a:ln/>
        </p:spPr>
        <p:txBody>
          <a:bodyPr wrap="square" lIns="0" tIns="0" rIns="0" bIns="0" rtlCol="0" anchor="ctr"/>
          <a:lstStyle/>
          <a:p>
            <a:pPr indent="0" marL="0">
              <a:buNone/>
            </a:pPr>
            <a:r>
              <a:rPr lang="en-US" sz="1300" dirty="0">
                <a:solidFill>
                  <a:schemeClr val="accent4"/>
                </a:solidFill>
              </a:rPr>
              <a:t>Red = has failed before, or can fail silently</a:t>
            </a:r>
            <a:endParaRPr lang="en-US" sz="13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Inside CD_production</a:t>
            </a:r>
            <a:endParaRPr lang="en-US" sz="3600" dirty="0"/>
          </a:p>
        </p:txBody>
      </p:sp>
      <p:sp>
        <p:nvSpPr>
          <p:cNvPr id="3" name="cd step 1"/>
          <p:cNvSpPr/>
          <p:nvPr/>
        </p:nvSpPr>
        <p:spPr>
          <a:xfrm>
            <a:off x="548640" y="1737360"/>
            <a:ext cx="1691640" cy="1051560"/>
          </a:xfrm>
          <a:prstGeom prst="roundRect">
            <a:avLst>
              <a:gd name="adj" fmla="val 6957"/>
            </a:avLst>
          </a:prstGeom>
          <a:solidFill>
            <a:schemeClr val="bg2"/>
          </a:solidFill>
          <a:ln w="19050">
            <a:solidFill>
              <a:schemeClr val="bg2"/>
            </a:solidFill>
            <a:prstDash val="solid"/>
          </a:ln>
        </p:spPr>
      </p:sp>
      <p:sp>
        <p:nvSpPr>
          <p:cNvPr id="4" name="Text 2"/>
          <p:cNvSpPr txBox="1"/>
          <p:nvPr/>
        </p:nvSpPr>
        <p:spPr>
          <a:xfrm>
            <a:off x="640080" y="1737360"/>
            <a:ext cx="1508760" cy="1051560"/>
          </a:xfrm>
          <a:prstGeom prst="rect">
            <a:avLst/>
          </a:prstGeom>
          <a:noFill/>
          <a:ln/>
        </p:spPr>
        <p:txBody>
          <a:bodyPr wrap="square" lIns="0" tIns="0" rIns="0" bIns="0" rtlCol="0" anchor="ctr"/>
          <a:lstStyle/>
          <a:p>
            <a:pPr algn="ctr" indent="0" marL="0">
              <a:buNone/>
            </a:pPr>
            <a:r>
              <a:rPr lang="en-US" sz="1500" b="1" dirty="0">
                <a:solidFill>
                  <a:schemeClr val="tx2"/>
                </a:solidFill>
              </a:rPr>
              <a:t>Fetch secrets</a:t>
            </a:r>
            <a:endParaRPr lang="en-US" sz="1500" dirty="0"/>
          </a:p>
        </p:txBody>
      </p:sp>
      <p:sp>
        <p:nvSpPr>
          <p:cNvPr id="5" name="Text 3"/>
          <p:cNvSpPr txBox="1"/>
          <p:nvPr/>
        </p:nvSpPr>
        <p:spPr>
          <a:xfrm>
            <a:off x="548640" y="3017520"/>
            <a:ext cx="1691640" cy="320040"/>
          </a:xfrm>
          <a:prstGeom prst="rect">
            <a:avLst/>
          </a:prstGeom>
          <a:noFill/>
          <a:ln/>
        </p:spPr>
        <p:txBody>
          <a:bodyPr wrap="square" lIns="0" tIns="0" rIns="0" bIns="0" rtlCol="0" anchor="ctr"/>
          <a:lstStyle/>
          <a:p>
            <a:pPr indent="0" marL="0">
              <a:buNone/>
            </a:pPr>
            <a:r>
              <a:rPr lang="en-US" sz="1200" dirty="0">
                <a:solidFill>
                  <a:schemeClr val="accent4"/>
                </a:solidFill>
              </a:rPr>
              <a:t>If it fails:</a:t>
            </a:r>
            <a:endParaRPr lang="en-US" sz="1200" dirty="0"/>
          </a:p>
        </p:txBody>
      </p:sp>
      <p:sp>
        <p:nvSpPr>
          <p:cNvPr id="6" name="Text 4"/>
          <p:cNvSpPr txBox="1"/>
          <p:nvPr/>
        </p:nvSpPr>
        <p:spPr>
          <a:xfrm>
            <a:off x="548640" y="3337560"/>
            <a:ext cx="1691640" cy="1097280"/>
          </a:xfrm>
          <a:prstGeom prst="rect">
            <a:avLst/>
          </a:prstGeom>
          <a:noFill/>
          <a:ln/>
        </p:spPr>
        <p:txBody>
          <a:bodyPr wrap="square" lIns="0" tIns="0" rIns="0" bIns="0" rtlCol="0" anchor="t"/>
          <a:lstStyle/>
          <a:p>
            <a:pPr indent="0" marL="0">
              <a:buNone/>
            </a:pPr>
            <a:r>
              <a:rPr lang="en-US" sz="1500" dirty="0">
                <a:solidFill>
                  <a:schemeClr val="tx1"/>
                </a:solidFill>
              </a:rPr>
              <a:t>Stops. Nothing changed.</a:t>
            </a:r>
            <a:endParaRPr lang="en-US" sz="1500" dirty="0"/>
          </a:p>
        </p:txBody>
      </p:sp>
      <p:sp>
        <p:nvSpPr>
          <p:cNvPr id="7" name="arrow"/>
          <p:cNvSpPr/>
          <p:nvPr/>
        </p:nvSpPr>
        <p:spPr>
          <a:xfrm>
            <a:off x="2240280" y="2263140"/>
            <a:ext cx="182880" cy="0"/>
          </a:xfrm>
          <a:prstGeom prst="line">
            <a:avLst/>
          </a:prstGeom>
          <a:noFill/>
          <a:ln w="25400">
            <a:solidFill>
              <a:schemeClr val="accent4"/>
            </a:solidFill>
            <a:prstDash val="solid"/>
            <a:tailEnd type="triangle"/>
          </a:ln>
        </p:spPr>
      </p:sp>
      <p:sp>
        <p:nvSpPr>
          <p:cNvPr id="8" name="cd step 2"/>
          <p:cNvSpPr/>
          <p:nvPr/>
        </p:nvSpPr>
        <p:spPr>
          <a:xfrm>
            <a:off x="2423160" y="1737360"/>
            <a:ext cx="1691640" cy="1051560"/>
          </a:xfrm>
          <a:prstGeom prst="roundRect">
            <a:avLst>
              <a:gd name="adj" fmla="val 6957"/>
            </a:avLst>
          </a:prstGeom>
          <a:solidFill>
            <a:schemeClr val="bg2"/>
          </a:solidFill>
          <a:ln w="19050">
            <a:solidFill>
              <a:schemeClr val="bg2"/>
            </a:solidFill>
            <a:prstDash val="solid"/>
          </a:ln>
        </p:spPr>
      </p:sp>
      <p:sp>
        <p:nvSpPr>
          <p:cNvPr id="9" name="Text 7"/>
          <p:cNvSpPr txBox="1"/>
          <p:nvPr/>
        </p:nvSpPr>
        <p:spPr>
          <a:xfrm>
            <a:off x="2514600" y="1737360"/>
            <a:ext cx="1508760" cy="1051560"/>
          </a:xfrm>
          <a:prstGeom prst="rect">
            <a:avLst/>
          </a:prstGeom>
          <a:noFill/>
          <a:ln/>
        </p:spPr>
        <p:txBody>
          <a:bodyPr wrap="square" lIns="0" tIns="0" rIns="0" bIns="0" rtlCol="0" anchor="ctr"/>
          <a:lstStyle/>
          <a:p>
            <a:pPr algn="ctr" indent="0" marL="0">
              <a:buNone/>
            </a:pPr>
            <a:r>
              <a:rPr lang="en-US" sz="1500" b="1" dirty="0">
                <a:solidFill>
                  <a:schemeClr val="tx2"/>
                </a:solidFill>
                <a:latin typeface="Courier New" pitchFamily="34" charset="0"/>
                <a:ea typeface="Courier New" pitchFamily="34" charset="-122"/>
                <a:cs typeface="Courier New" pitchFamily="34" charset="-120"/>
              </a:rPr>
              <a:t>alembic upgrade head</a:t>
            </a:r>
            <a:endParaRPr lang="en-US" sz="1500" dirty="0"/>
          </a:p>
        </p:txBody>
      </p:sp>
      <p:sp>
        <p:nvSpPr>
          <p:cNvPr id="10" name="Text 8"/>
          <p:cNvSpPr txBox="1"/>
          <p:nvPr/>
        </p:nvSpPr>
        <p:spPr>
          <a:xfrm>
            <a:off x="2423160" y="3017520"/>
            <a:ext cx="1691640" cy="320040"/>
          </a:xfrm>
          <a:prstGeom prst="rect">
            <a:avLst/>
          </a:prstGeom>
          <a:noFill/>
          <a:ln/>
        </p:spPr>
        <p:txBody>
          <a:bodyPr wrap="square" lIns="0" tIns="0" rIns="0" bIns="0" rtlCol="0" anchor="ctr"/>
          <a:lstStyle/>
          <a:p>
            <a:pPr indent="0" marL="0">
              <a:buNone/>
            </a:pPr>
            <a:r>
              <a:rPr lang="en-US" sz="1200" dirty="0">
                <a:solidFill>
                  <a:schemeClr val="accent4"/>
                </a:solidFill>
              </a:rPr>
              <a:t>If it fails:</a:t>
            </a:r>
            <a:endParaRPr lang="en-US" sz="1200" dirty="0"/>
          </a:p>
        </p:txBody>
      </p:sp>
      <p:sp>
        <p:nvSpPr>
          <p:cNvPr id="11" name="Text 9"/>
          <p:cNvSpPr txBox="1"/>
          <p:nvPr/>
        </p:nvSpPr>
        <p:spPr>
          <a:xfrm>
            <a:off x="2423160" y="3337560"/>
            <a:ext cx="1691640" cy="1097280"/>
          </a:xfrm>
          <a:prstGeom prst="rect">
            <a:avLst/>
          </a:prstGeom>
          <a:noFill/>
          <a:ln/>
        </p:spPr>
        <p:txBody>
          <a:bodyPr wrap="square" lIns="0" tIns="0" rIns="0" bIns="0" rtlCol="0" anchor="t"/>
          <a:lstStyle/>
          <a:p>
            <a:pPr indent="0" marL="0">
              <a:buNone/>
            </a:pPr>
            <a:r>
              <a:rPr lang="en-US" sz="1500" dirty="0">
                <a:solidFill>
                  <a:schemeClr val="tx1"/>
                </a:solidFill>
              </a:rPr>
              <a:t>Stops before deploy. Check alembic current.</a:t>
            </a:r>
            <a:endParaRPr lang="en-US" sz="1500" dirty="0"/>
          </a:p>
        </p:txBody>
      </p:sp>
      <p:sp>
        <p:nvSpPr>
          <p:cNvPr id="12" name="arrow"/>
          <p:cNvSpPr/>
          <p:nvPr/>
        </p:nvSpPr>
        <p:spPr>
          <a:xfrm>
            <a:off x="4114800" y="2263140"/>
            <a:ext cx="182880" cy="0"/>
          </a:xfrm>
          <a:prstGeom prst="line">
            <a:avLst/>
          </a:prstGeom>
          <a:noFill/>
          <a:ln w="25400">
            <a:solidFill>
              <a:schemeClr val="accent4"/>
            </a:solidFill>
            <a:prstDash val="solid"/>
            <a:tailEnd type="triangle"/>
          </a:ln>
        </p:spPr>
      </p:sp>
      <p:sp>
        <p:nvSpPr>
          <p:cNvPr id="13" name="cd step 3"/>
          <p:cNvSpPr/>
          <p:nvPr/>
        </p:nvSpPr>
        <p:spPr>
          <a:xfrm>
            <a:off x="4297680" y="1737360"/>
            <a:ext cx="1691640" cy="1051560"/>
          </a:xfrm>
          <a:prstGeom prst="roundRect">
            <a:avLst>
              <a:gd name="adj" fmla="val 6957"/>
            </a:avLst>
          </a:prstGeom>
          <a:solidFill>
            <a:schemeClr val="accent6"/>
          </a:solidFill>
          <a:ln w="19050">
            <a:solidFill>
              <a:schemeClr val="accent6"/>
            </a:solidFill>
            <a:prstDash val="solid"/>
          </a:ln>
        </p:spPr>
      </p:sp>
      <p:sp>
        <p:nvSpPr>
          <p:cNvPr id="14" name="Text 12"/>
          <p:cNvSpPr txBox="1"/>
          <p:nvPr/>
        </p:nvSpPr>
        <p:spPr>
          <a:xfrm>
            <a:off x="4389120" y="1737360"/>
            <a:ext cx="1508760" cy="1051560"/>
          </a:xfrm>
          <a:prstGeom prst="rect">
            <a:avLst/>
          </a:prstGeom>
          <a:noFill/>
          <a:ln/>
        </p:spPr>
        <p:txBody>
          <a:bodyPr wrap="square" lIns="0" tIns="0" rIns="0" bIns="0" rtlCol="0" anchor="ctr"/>
          <a:lstStyle/>
          <a:p>
            <a:pPr algn="ctr" indent="0" marL="0">
              <a:buNone/>
            </a:pPr>
            <a:r>
              <a:rPr lang="en-US" sz="1500" b="1" dirty="0">
                <a:solidFill>
                  <a:schemeClr val="tx2"/>
                </a:solidFill>
              </a:rPr>
              <a:t>Data-migration report</a:t>
            </a:r>
            <a:endParaRPr lang="en-US" sz="1500" dirty="0"/>
          </a:p>
        </p:txBody>
      </p:sp>
      <p:sp>
        <p:nvSpPr>
          <p:cNvPr id="15" name="Text 13"/>
          <p:cNvSpPr txBox="1"/>
          <p:nvPr/>
        </p:nvSpPr>
        <p:spPr>
          <a:xfrm>
            <a:off x="4297680" y="3017520"/>
            <a:ext cx="1691640" cy="320040"/>
          </a:xfrm>
          <a:prstGeom prst="rect">
            <a:avLst/>
          </a:prstGeom>
          <a:noFill/>
          <a:ln/>
        </p:spPr>
        <p:txBody>
          <a:bodyPr wrap="square" lIns="0" tIns="0" rIns="0" bIns="0" rtlCol="0" anchor="ctr"/>
          <a:lstStyle/>
          <a:p>
            <a:pPr indent="0" marL="0">
              <a:buNone/>
            </a:pPr>
            <a:r>
              <a:rPr lang="en-US" sz="1200" dirty="0">
                <a:solidFill>
                  <a:schemeClr val="accent4"/>
                </a:solidFill>
              </a:rPr>
              <a:t>If it fails:</a:t>
            </a:r>
            <a:endParaRPr lang="en-US" sz="1200" dirty="0"/>
          </a:p>
        </p:txBody>
      </p:sp>
      <p:sp>
        <p:nvSpPr>
          <p:cNvPr id="16" name="Text 14"/>
          <p:cNvSpPr txBox="1"/>
          <p:nvPr/>
        </p:nvSpPr>
        <p:spPr>
          <a:xfrm>
            <a:off x="4297680" y="3337560"/>
            <a:ext cx="1691640" cy="1097280"/>
          </a:xfrm>
          <a:prstGeom prst="rect">
            <a:avLst/>
          </a:prstGeom>
          <a:noFill/>
          <a:ln/>
        </p:spPr>
        <p:txBody>
          <a:bodyPr wrap="square" lIns="0" tIns="0" rIns="0" bIns="0" rtlCol="0" anchor="t"/>
          <a:lstStyle/>
          <a:p>
            <a:pPr indent="0" marL="0">
              <a:buNone/>
            </a:pPr>
            <a:r>
              <a:rPr lang="en-US" sz="1500" dirty="0">
                <a:solidFill>
                  <a:schemeClr val="tx1"/>
                </a:solidFill>
              </a:rPr>
              <a:t>Warning only. Read it anyway.</a:t>
            </a:r>
            <a:endParaRPr lang="en-US" sz="1500" dirty="0"/>
          </a:p>
        </p:txBody>
      </p:sp>
      <p:sp>
        <p:nvSpPr>
          <p:cNvPr id="17" name="arrow"/>
          <p:cNvSpPr/>
          <p:nvPr/>
        </p:nvSpPr>
        <p:spPr>
          <a:xfrm>
            <a:off x="5989320" y="2263140"/>
            <a:ext cx="182880" cy="0"/>
          </a:xfrm>
          <a:prstGeom prst="line">
            <a:avLst/>
          </a:prstGeom>
          <a:noFill/>
          <a:ln w="25400">
            <a:solidFill>
              <a:schemeClr val="accent4"/>
            </a:solidFill>
            <a:prstDash val="solid"/>
            <a:tailEnd type="triangle"/>
          </a:ln>
        </p:spPr>
      </p:sp>
      <p:sp>
        <p:nvSpPr>
          <p:cNvPr id="18" name="cd step 4"/>
          <p:cNvSpPr/>
          <p:nvPr/>
        </p:nvSpPr>
        <p:spPr>
          <a:xfrm>
            <a:off x="6172200" y="1737360"/>
            <a:ext cx="1691640" cy="1051560"/>
          </a:xfrm>
          <a:prstGeom prst="roundRect">
            <a:avLst>
              <a:gd name="adj" fmla="val 6957"/>
            </a:avLst>
          </a:prstGeom>
          <a:solidFill>
            <a:schemeClr val="accent5"/>
          </a:solidFill>
          <a:ln w="19050">
            <a:solidFill>
              <a:schemeClr val="accent2"/>
            </a:solidFill>
            <a:prstDash val="solid"/>
          </a:ln>
        </p:spPr>
      </p:sp>
      <p:sp>
        <p:nvSpPr>
          <p:cNvPr id="19" name="Text 17"/>
          <p:cNvSpPr txBox="1"/>
          <p:nvPr/>
        </p:nvSpPr>
        <p:spPr>
          <a:xfrm>
            <a:off x="6263640" y="1737360"/>
            <a:ext cx="1508760" cy="1051560"/>
          </a:xfrm>
          <a:prstGeom prst="rect">
            <a:avLst/>
          </a:prstGeom>
          <a:noFill/>
          <a:ln/>
        </p:spPr>
        <p:txBody>
          <a:bodyPr wrap="square" lIns="0" tIns="0" rIns="0" bIns="0" rtlCol="0" anchor="ctr"/>
          <a:lstStyle/>
          <a:p>
            <a:pPr algn="ctr" indent="0" marL="0">
              <a:buNone/>
            </a:pPr>
            <a:r>
              <a:rPr lang="en-US" sz="1500" b="1" dirty="0">
                <a:solidFill>
                  <a:schemeClr val="tx2"/>
                </a:solidFill>
              </a:rPr>
              <a:t>gcloud app deploy</a:t>
            </a:r>
            <a:endParaRPr lang="en-US" sz="1500" dirty="0"/>
          </a:p>
        </p:txBody>
      </p:sp>
      <p:sp>
        <p:nvSpPr>
          <p:cNvPr id="20" name="Text 18"/>
          <p:cNvSpPr txBox="1"/>
          <p:nvPr/>
        </p:nvSpPr>
        <p:spPr>
          <a:xfrm>
            <a:off x="6172200" y="3017520"/>
            <a:ext cx="1691640" cy="320040"/>
          </a:xfrm>
          <a:prstGeom prst="rect">
            <a:avLst/>
          </a:prstGeom>
          <a:noFill/>
          <a:ln/>
        </p:spPr>
        <p:txBody>
          <a:bodyPr wrap="square" lIns="0" tIns="0" rIns="0" bIns="0" rtlCol="0" anchor="ctr"/>
          <a:lstStyle/>
          <a:p>
            <a:pPr indent="0" marL="0">
              <a:buNone/>
            </a:pPr>
            <a:r>
              <a:rPr lang="en-US" sz="1200" dirty="0">
                <a:solidFill>
                  <a:schemeClr val="accent4"/>
                </a:solidFill>
              </a:rPr>
              <a:t>If it fails:</a:t>
            </a:r>
            <a:endParaRPr lang="en-US" sz="1200" dirty="0"/>
          </a:p>
        </p:txBody>
      </p:sp>
      <p:sp>
        <p:nvSpPr>
          <p:cNvPr id="21" name="Text 19"/>
          <p:cNvSpPr txBox="1"/>
          <p:nvPr/>
        </p:nvSpPr>
        <p:spPr>
          <a:xfrm>
            <a:off x="6172200" y="3337560"/>
            <a:ext cx="1691640" cy="1097280"/>
          </a:xfrm>
          <a:prstGeom prst="rect">
            <a:avLst/>
          </a:prstGeom>
          <a:noFill/>
          <a:ln/>
        </p:spPr>
        <p:txBody>
          <a:bodyPr wrap="square" lIns="0" tIns="0" rIns="0" bIns="0" rtlCol="0" anchor="t"/>
          <a:lstStyle/>
          <a:p>
            <a:pPr indent="0" marL="0">
              <a:buNone/>
            </a:pPr>
            <a:r>
              <a:rPr lang="en-US" sz="1500" b="1" dirty="0">
                <a:solidFill>
                  <a:schemeClr val="accent2"/>
                </a:solidFill>
              </a:rPr>
              <a:t>New schema, old code still serving.</a:t>
            </a:r>
            <a:endParaRPr lang="en-US" sz="1500" dirty="0"/>
          </a:p>
        </p:txBody>
      </p:sp>
      <p:sp>
        <p:nvSpPr>
          <p:cNvPr id="22" name="arrow"/>
          <p:cNvSpPr/>
          <p:nvPr/>
        </p:nvSpPr>
        <p:spPr>
          <a:xfrm>
            <a:off x="7863840" y="2263140"/>
            <a:ext cx="182880" cy="0"/>
          </a:xfrm>
          <a:prstGeom prst="line">
            <a:avLst/>
          </a:prstGeom>
          <a:noFill/>
          <a:ln w="25400">
            <a:solidFill>
              <a:schemeClr val="accent4"/>
            </a:solidFill>
            <a:prstDash val="solid"/>
            <a:tailEnd type="triangle"/>
          </a:ln>
        </p:spPr>
      </p:sp>
      <p:sp>
        <p:nvSpPr>
          <p:cNvPr id="23" name="cd step 5"/>
          <p:cNvSpPr/>
          <p:nvPr/>
        </p:nvSpPr>
        <p:spPr>
          <a:xfrm>
            <a:off x="8046720" y="1737360"/>
            <a:ext cx="1691640" cy="1051560"/>
          </a:xfrm>
          <a:prstGeom prst="roundRect">
            <a:avLst>
              <a:gd name="adj" fmla="val 6957"/>
            </a:avLst>
          </a:prstGeom>
          <a:solidFill>
            <a:schemeClr val="accent5"/>
          </a:solidFill>
          <a:ln w="19050">
            <a:solidFill>
              <a:schemeClr val="accent2"/>
            </a:solidFill>
            <a:prstDash val="solid"/>
          </a:ln>
        </p:spPr>
      </p:sp>
      <p:sp>
        <p:nvSpPr>
          <p:cNvPr id="24" name="Text 22"/>
          <p:cNvSpPr txBox="1"/>
          <p:nvPr/>
        </p:nvSpPr>
        <p:spPr>
          <a:xfrm>
            <a:off x="8138160" y="1737360"/>
            <a:ext cx="1508760" cy="1051560"/>
          </a:xfrm>
          <a:prstGeom prst="rect">
            <a:avLst/>
          </a:prstGeom>
          <a:noFill/>
          <a:ln/>
        </p:spPr>
        <p:txBody>
          <a:bodyPr wrap="square" lIns="0" tIns="0" rIns="0" bIns="0" rtlCol="0" anchor="ctr"/>
          <a:lstStyle/>
          <a:p>
            <a:pPr algn="ctr" indent="0" marL="0">
              <a:buNone/>
            </a:pPr>
            <a:r>
              <a:rPr lang="en-US" sz="1500" b="1" dirty="0">
                <a:solidFill>
                  <a:schemeClr val="tx2"/>
                </a:solidFill>
              </a:rPr>
              <a:t>Delete old version</a:t>
            </a:r>
            <a:endParaRPr lang="en-US" sz="1500" dirty="0"/>
          </a:p>
        </p:txBody>
      </p:sp>
      <p:sp>
        <p:nvSpPr>
          <p:cNvPr id="25" name="Text 23"/>
          <p:cNvSpPr txBox="1"/>
          <p:nvPr/>
        </p:nvSpPr>
        <p:spPr>
          <a:xfrm>
            <a:off x="8046720" y="3017520"/>
            <a:ext cx="1691640" cy="320040"/>
          </a:xfrm>
          <a:prstGeom prst="rect">
            <a:avLst/>
          </a:prstGeom>
          <a:noFill/>
          <a:ln/>
        </p:spPr>
        <p:txBody>
          <a:bodyPr wrap="square" lIns="0" tIns="0" rIns="0" bIns="0" rtlCol="0" anchor="ctr"/>
          <a:lstStyle/>
          <a:p>
            <a:pPr indent="0" marL="0">
              <a:buNone/>
            </a:pPr>
            <a:r>
              <a:rPr lang="en-US" sz="1200" dirty="0">
                <a:solidFill>
                  <a:schemeClr val="accent4"/>
                </a:solidFill>
              </a:rPr>
              <a:t>If it fails:</a:t>
            </a:r>
            <a:endParaRPr lang="en-US" sz="1200" dirty="0"/>
          </a:p>
        </p:txBody>
      </p:sp>
      <p:sp>
        <p:nvSpPr>
          <p:cNvPr id="26" name="Text 24"/>
          <p:cNvSpPr txBox="1"/>
          <p:nvPr/>
        </p:nvSpPr>
        <p:spPr>
          <a:xfrm>
            <a:off x="8046720" y="3337560"/>
            <a:ext cx="1691640" cy="1097280"/>
          </a:xfrm>
          <a:prstGeom prst="rect">
            <a:avLst/>
          </a:prstGeom>
          <a:noFill/>
          <a:ln/>
        </p:spPr>
        <p:txBody>
          <a:bodyPr wrap="square" lIns="0" tIns="0" rIns="0" bIns="0" rtlCol="0" anchor="t"/>
          <a:lstStyle/>
          <a:p>
            <a:pPr indent="0" marL="0">
              <a:buNone/>
            </a:pPr>
            <a:r>
              <a:rPr lang="en-US" sz="1500" b="1" dirty="0">
                <a:solidFill>
                  <a:schemeClr val="accent2"/>
                </a:solidFill>
              </a:rPr>
              <a:t>Can delete your rollback target.</a:t>
            </a:r>
            <a:endParaRPr lang="en-US" sz="1500" dirty="0"/>
          </a:p>
        </p:txBody>
      </p:sp>
      <p:sp>
        <p:nvSpPr>
          <p:cNvPr id="27" name="arrow"/>
          <p:cNvSpPr/>
          <p:nvPr/>
        </p:nvSpPr>
        <p:spPr>
          <a:xfrm>
            <a:off x="9738360" y="2263140"/>
            <a:ext cx="182880" cy="0"/>
          </a:xfrm>
          <a:prstGeom prst="line">
            <a:avLst/>
          </a:prstGeom>
          <a:noFill/>
          <a:ln w="25400">
            <a:solidFill>
              <a:schemeClr val="accent4"/>
            </a:solidFill>
            <a:prstDash val="solid"/>
            <a:tailEnd type="triangle"/>
          </a:ln>
        </p:spPr>
      </p:sp>
      <p:sp>
        <p:nvSpPr>
          <p:cNvPr id="28" name="cd step 6"/>
          <p:cNvSpPr/>
          <p:nvPr/>
        </p:nvSpPr>
        <p:spPr>
          <a:xfrm>
            <a:off x="9921240" y="1737360"/>
            <a:ext cx="1691640" cy="1051560"/>
          </a:xfrm>
          <a:prstGeom prst="roundRect">
            <a:avLst>
              <a:gd name="adj" fmla="val 6957"/>
            </a:avLst>
          </a:prstGeom>
          <a:solidFill>
            <a:schemeClr val="accent5"/>
          </a:solidFill>
          <a:ln w="19050">
            <a:solidFill>
              <a:schemeClr val="accent2"/>
            </a:solidFill>
            <a:prstDash val="solid"/>
          </a:ln>
        </p:spPr>
      </p:sp>
      <p:sp>
        <p:nvSpPr>
          <p:cNvPr id="29" name="Text 27"/>
          <p:cNvSpPr txBox="1"/>
          <p:nvPr/>
        </p:nvSpPr>
        <p:spPr>
          <a:xfrm>
            <a:off x="10012680" y="1737360"/>
            <a:ext cx="1508760" cy="1051560"/>
          </a:xfrm>
          <a:prstGeom prst="rect">
            <a:avLst/>
          </a:prstGeom>
          <a:noFill/>
          <a:ln/>
        </p:spPr>
        <p:txBody>
          <a:bodyPr wrap="square" lIns="0" tIns="0" rIns="0" bIns="0" rtlCol="0" anchor="ctr"/>
          <a:lstStyle/>
          <a:p>
            <a:pPr algn="ctr" indent="0" marL="0">
              <a:buNone/>
            </a:pPr>
            <a:r>
              <a:rPr lang="en-US" sz="1500" b="1" dirty="0">
                <a:solidFill>
                  <a:schemeClr val="tx2"/>
                </a:solidFill>
              </a:rPr>
              <a:t>Smoke test</a:t>
            </a:r>
            <a:endParaRPr lang="en-US" sz="1500" dirty="0"/>
          </a:p>
        </p:txBody>
      </p:sp>
      <p:sp>
        <p:nvSpPr>
          <p:cNvPr id="30" name="Text 28"/>
          <p:cNvSpPr txBox="1"/>
          <p:nvPr/>
        </p:nvSpPr>
        <p:spPr>
          <a:xfrm>
            <a:off x="9921240" y="3017520"/>
            <a:ext cx="1691640" cy="320040"/>
          </a:xfrm>
          <a:prstGeom prst="rect">
            <a:avLst/>
          </a:prstGeom>
          <a:noFill/>
          <a:ln/>
        </p:spPr>
        <p:txBody>
          <a:bodyPr wrap="square" lIns="0" tIns="0" rIns="0" bIns="0" rtlCol="0" anchor="ctr"/>
          <a:lstStyle/>
          <a:p>
            <a:pPr indent="0" marL="0">
              <a:buNone/>
            </a:pPr>
            <a:r>
              <a:rPr lang="en-US" sz="1200" dirty="0">
                <a:solidFill>
                  <a:schemeClr val="accent4"/>
                </a:solidFill>
              </a:rPr>
              <a:t>If it fails:</a:t>
            </a:r>
            <a:endParaRPr lang="en-US" sz="1200" dirty="0"/>
          </a:p>
        </p:txBody>
      </p:sp>
      <p:sp>
        <p:nvSpPr>
          <p:cNvPr id="31" name="Text 29"/>
          <p:cNvSpPr txBox="1"/>
          <p:nvPr/>
        </p:nvSpPr>
        <p:spPr>
          <a:xfrm>
            <a:off x="9921240" y="3337560"/>
            <a:ext cx="1691640" cy="1097280"/>
          </a:xfrm>
          <a:prstGeom prst="rect">
            <a:avLst/>
          </a:prstGeom>
          <a:noFill/>
          <a:ln/>
        </p:spPr>
        <p:txBody>
          <a:bodyPr wrap="square" lIns="0" tIns="0" rIns="0" bIns="0" rtlCol="0" anchor="t"/>
          <a:lstStyle/>
          <a:p>
            <a:pPr indent="0" marL="0">
              <a:buNone/>
            </a:pPr>
            <a:r>
              <a:rPr lang="en-US" sz="1500" b="1" dirty="0">
                <a:solidFill>
                  <a:schemeClr val="accent2"/>
                </a:solidFill>
              </a:rPr>
              <a:t>New version is already live.</a:t>
            </a:r>
            <a:endParaRPr lang="en-US" sz="1500" dirty="0"/>
          </a:p>
        </p:txBody>
      </p:sp>
      <p:sp>
        <p:nvSpPr>
          <p:cNvPr id="32" name="no return DB changed"/>
          <p:cNvSpPr/>
          <p:nvPr/>
        </p:nvSpPr>
        <p:spPr>
          <a:xfrm>
            <a:off x="4206240" y="1417320"/>
            <a:ext cx="0" cy="3200400"/>
          </a:xfrm>
          <a:prstGeom prst="line">
            <a:avLst/>
          </a:prstGeom>
          <a:noFill/>
          <a:ln w="25400">
            <a:solidFill>
              <a:schemeClr val="accent2"/>
            </a:solidFill>
            <a:prstDash val="dash"/>
          </a:ln>
        </p:spPr>
      </p:sp>
      <p:sp>
        <p:nvSpPr>
          <p:cNvPr id="33" name="Text 31"/>
          <p:cNvSpPr txBox="1"/>
          <p:nvPr/>
        </p:nvSpPr>
        <p:spPr>
          <a:xfrm>
            <a:off x="3291840" y="4663440"/>
            <a:ext cx="1828800" cy="320040"/>
          </a:xfrm>
          <a:prstGeom prst="rect">
            <a:avLst/>
          </a:prstGeom>
          <a:noFill/>
          <a:ln/>
        </p:spPr>
        <p:txBody>
          <a:bodyPr wrap="square" lIns="0" tIns="0" rIns="0" bIns="0" rtlCol="0" anchor="ctr"/>
          <a:lstStyle/>
          <a:p>
            <a:pPr algn="ctr" indent="0" marL="0">
              <a:buNone/>
            </a:pPr>
            <a:r>
              <a:rPr lang="en-US" sz="1300" b="1" dirty="0">
                <a:solidFill>
                  <a:schemeClr val="accent2"/>
                </a:solidFill>
              </a:rPr>
              <a:t>DB changed</a:t>
            </a:r>
            <a:endParaRPr lang="en-US" sz="1300" dirty="0"/>
          </a:p>
        </p:txBody>
      </p:sp>
      <p:sp>
        <p:nvSpPr>
          <p:cNvPr id="34" name="no return Traffic moved"/>
          <p:cNvSpPr/>
          <p:nvPr/>
        </p:nvSpPr>
        <p:spPr>
          <a:xfrm>
            <a:off x="7955280" y="1417320"/>
            <a:ext cx="0" cy="3200400"/>
          </a:xfrm>
          <a:prstGeom prst="line">
            <a:avLst/>
          </a:prstGeom>
          <a:noFill/>
          <a:ln w="25400">
            <a:solidFill>
              <a:schemeClr val="accent2"/>
            </a:solidFill>
            <a:prstDash val="dash"/>
          </a:ln>
        </p:spPr>
      </p:sp>
      <p:sp>
        <p:nvSpPr>
          <p:cNvPr id="35" name="Text 33"/>
          <p:cNvSpPr txBox="1"/>
          <p:nvPr/>
        </p:nvSpPr>
        <p:spPr>
          <a:xfrm>
            <a:off x="7040880" y="4663440"/>
            <a:ext cx="1828800" cy="320040"/>
          </a:xfrm>
          <a:prstGeom prst="rect">
            <a:avLst/>
          </a:prstGeom>
          <a:noFill/>
          <a:ln/>
        </p:spPr>
        <p:txBody>
          <a:bodyPr wrap="square" lIns="0" tIns="0" rIns="0" bIns="0" rtlCol="0" anchor="ctr"/>
          <a:lstStyle/>
          <a:p>
            <a:pPr algn="ctr" indent="0" marL="0">
              <a:buNone/>
            </a:pPr>
            <a:r>
              <a:rPr lang="en-US" sz="1300" b="1" dirty="0">
                <a:solidFill>
                  <a:schemeClr val="accent2"/>
                </a:solidFill>
              </a:rPr>
              <a:t>Traffic moved</a:t>
            </a:r>
            <a:endParaRPr lang="en-US" sz="1300" dirty="0"/>
          </a:p>
        </p:txBody>
      </p:sp>
      <p:sp>
        <p:nvSpPr>
          <p:cNvPr id="36" name="smoke callout"/>
          <p:cNvSpPr/>
          <p:nvPr/>
        </p:nvSpPr>
        <p:spPr>
          <a:xfrm>
            <a:off x="548640" y="5257800"/>
            <a:ext cx="11064240" cy="685800"/>
          </a:xfrm>
          <a:prstGeom prst="roundRect">
            <a:avLst>
              <a:gd name="adj" fmla="val 10667"/>
            </a:avLst>
          </a:prstGeom>
          <a:solidFill>
            <a:schemeClr val="accent5"/>
          </a:solidFill>
          <a:ln w="12700">
            <a:solidFill>
              <a:schemeClr val="accent5"/>
            </a:solidFill>
            <a:prstDash val="solid"/>
          </a:ln>
        </p:spPr>
      </p:sp>
      <p:sp>
        <p:nvSpPr>
          <p:cNvPr id="37" name="smoke warn"/>
          <p:cNvSpPr/>
          <p:nvPr/>
        </p:nvSpPr>
        <p:spPr>
          <a:xfrm>
            <a:off x="731520" y="5376672"/>
            <a:ext cx="438912" cy="438912"/>
          </a:xfrm>
          <a:prstGeom prst="ellipse">
            <a:avLst/>
          </a:prstGeom>
          <a:solidFill>
            <a:schemeClr val="accent2"/>
          </a:solidFill>
          <a:ln w="12700">
            <a:solidFill>
              <a:schemeClr val="accent2"/>
            </a:solidFill>
            <a:prstDash val="solid"/>
          </a:ln>
        </p:spPr>
      </p:sp>
      <p:sp>
        <p:nvSpPr>
          <p:cNvPr id="38" name="smoke warn mark"/>
          <p:cNvSpPr txBox="1"/>
          <p:nvPr/>
        </p:nvSpPr>
        <p:spPr>
          <a:xfrm>
            <a:off x="731520" y="5376672"/>
            <a:ext cx="438912" cy="438912"/>
          </a:xfrm>
          <a:prstGeom prst="rect">
            <a:avLst/>
          </a:prstGeom>
          <a:noFill/>
          <a:ln/>
        </p:spPr>
        <p:txBody>
          <a:bodyPr wrap="square" lIns="0" tIns="0" rIns="0" bIns="0" rtlCol="0" anchor="ctr"/>
          <a:lstStyle/>
          <a:p>
            <a:pPr algn="ctr" indent="0" marL="0">
              <a:buNone/>
            </a:pPr>
            <a:r>
              <a:rPr lang="en-US" sz="1900" b="1" dirty="0">
                <a:solidFill>
                  <a:schemeClr val="bg1"/>
                </a:solidFill>
              </a:rPr>
              <a:t>!</a:t>
            </a:r>
            <a:endParaRPr lang="en-US" sz="1900" dirty="0"/>
          </a:p>
        </p:txBody>
      </p:sp>
      <p:sp>
        <p:nvSpPr>
          <p:cNvPr id="39" name="Text 37"/>
          <p:cNvSpPr txBox="1"/>
          <p:nvPr/>
        </p:nvSpPr>
        <p:spPr>
          <a:xfrm>
            <a:off x="1371600" y="5257800"/>
            <a:ext cx="10058400" cy="685800"/>
          </a:xfrm>
          <a:prstGeom prst="rect">
            <a:avLst/>
          </a:prstGeom>
          <a:noFill/>
          <a:ln/>
        </p:spPr>
        <p:txBody>
          <a:bodyPr wrap="square" lIns="0" tIns="0" rIns="0" bIns="0" rtlCol="0" anchor="ctr"/>
          <a:lstStyle/>
          <a:p>
            <a:pPr indent="0" marL="0">
              <a:buNone/>
            </a:pPr>
            <a:r>
              <a:rPr lang="en-US" sz="1700" b="1" dirty="0">
                <a:solidFill>
                  <a:schemeClr val="tx1"/>
                </a:solidFill>
              </a:rPr>
              <a:t>A red smoke test means production is already broken. Roll back first, debug second.</a:t>
            </a:r>
            <a:endParaRPr lang="en-US" sz="17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Failure points: before anything changes</a:t>
            </a:r>
            <a:endParaRPr lang="en-US" sz="3600" dirty="0"/>
          </a:p>
        </p:txBody>
      </p:sp>
      <p:sp>
        <p:nvSpPr>
          <p:cNvPr id="3" name="card Staging moved"/>
          <p:cNvSpPr/>
          <p:nvPr/>
        </p:nvSpPr>
        <p:spPr>
          <a:xfrm>
            <a:off x="548640" y="1417320"/>
            <a:ext cx="3520440" cy="2148840"/>
          </a:xfrm>
          <a:prstGeom prst="roundRect">
            <a:avLst>
              <a:gd name="adj" fmla="val 3404"/>
            </a:avLst>
          </a:prstGeom>
          <a:solidFill>
            <a:schemeClr val="bg2"/>
          </a:solidFill>
          <a:ln w="12700">
            <a:solidFill>
              <a:schemeClr val="bg2"/>
            </a:solidFill>
            <a:prstDash val="solid"/>
          </a:ln>
        </p:spPr>
      </p:sp>
      <p:sp>
        <p:nvSpPr>
          <p:cNvPr id="4" name="warn Staging moved"/>
          <p:cNvSpPr/>
          <p:nvPr/>
        </p:nvSpPr>
        <p:spPr>
          <a:xfrm>
            <a:off x="777240" y="1645920"/>
            <a:ext cx="420624" cy="420624"/>
          </a:xfrm>
          <a:prstGeom prst="ellipse">
            <a:avLst/>
          </a:prstGeom>
          <a:solidFill>
            <a:schemeClr val="accent2"/>
          </a:solidFill>
          <a:ln w="12700">
            <a:solidFill>
              <a:schemeClr val="accent2"/>
            </a:solidFill>
            <a:prstDash val="solid"/>
          </a:ln>
        </p:spPr>
      </p:sp>
      <p:sp>
        <p:nvSpPr>
          <p:cNvPr id="5" name="warn Staging moved mark"/>
          <p:cNvSpPr txBox="1"/>
          <p:nvPr/>
        </p:nvSpPr>
        <p:spPr>
          <a:xfrm>
            <a:off x="777240" y="164592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6" name="head Staging moved"/>
          <p:cNvSpPr txBox="1"/>
          <p:nvPr/>
        </p:nvSpPr>
        <p:spPr>
          <a:xfrm>
            <a:off x="1325880" y="160020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Staging moved</a:t>
            </a:r>
            <a:endParaRPr lang="en-US" sz="1800" dirty="0"/>
          </a:p>
        </p:txBody>
      </p:sp>
      <p:sp>
        <p:nvSpPr>
          <p:cNvPr id="7" name="body Staging moved"/>
          <p:cNvSpPr txBox="1"/>
          <p:nvPr/>
        </p:nvSpPr>
        <p:spPr>
          <a:xfrm>
            <a:off x="777240" y="2240280"/>
            <a:ext cx="3063240" cy="1188720"/>
          </a:xfrm>
          <a:prstGeom prst="rect">
            <a:avLst/>
          </a:prstGeom>
          <a:noFill/>
          <a:ln/>
        </p:spPr>
        <p:txBody>
          <a:bodyPr wrap="square" lIns="0" tIns="0" rIns="0" bIns="0" rtlCol="0" anchor="t"/>
          <a:lstStyle/>
          <a:p>
            <a:pPr indent="0" marL="0">
              <a:buNone/>
            </a:pPr>
            <a:r>
              <a:rPr lang="en-US" sz="1500" dirty="0">
                <a:solidFill>
                  <a:schemeClr val="tx1"/>
                </a:solidFill>
              </a:rPr>
              <a:t>Anything merged after you tested ships untested. Freeze staging until the promotion merges.</a:t>
            </a:r>
            <a:endParaRPr lang="en-US" sz="1500" dirty="0"/>
          </a:p>
        </p:txBody>
      </p:sp>
      <p:sp>
        <p:nvSpPr>
          <p:cNvPr id="8" name="card Release PR stuck"/>
          <p:cNvSpPr/>
          <p:nvPr/>
        </p:nvSpPr>
        <p:spPr>
          <a:xfrm>
            <a:off x="4334256" y="1417320"/>
            <a:ext cx="3520440" cy="2148840"/>
          </a:xfrm>
          <a:prstGeom prst="roundRect">
            <a:avLst>
              <a:gd name="adj" fmla="val 3404"/>
            </a:avLst>
          </a:prstGeom>
          <a:solidFill>
            <a:schemeClr val="bg2"/>
          </a:solidFill>
          <a:ln w="12700">
            <a:solidFill>
              <a:schemeClr val="bg2"/>
            </a:solidFill>
            <a:prstDash val="solid"/>
          </a:ln>
        </p:spPr>
      </p:sp>
      <p:sp>
        <p:nvSpPr>
          <p:cNvPr id="9" name="warn Release PR stuck"/>
          <p:cNvSpPr/>
          <p:nvPr/>
        </p:nvSpPr>
        <p:spPr>
          <a:xfrm>
            <a:off x="4562856" y="1645920"/>
            <a:ext cx="420624" cy="420624"/>
          </a:xfrm>
          <a:prstGeom prst="ellipse">
            <a:avLst/>
          </a:prstGeom>
          <a:solidFill>
            <a:schemeClr val="accent2"/>
          </a:solidFill>
          <a:ln w="12700">
            <a:solidFill>
              <a:schemeClr val="accent2"/>
            </a:solidFill>
            <a:prstDash val="solid"/>
          </a:ln>
        </p:spPr>
      </p:sp>
      <p:sp>
        <p:nvSpPr>
          <p:cNvPr id="10" name="warn Release PR stuck mark"/>
          <p:cNvSpPr txBox="1"/>
          <p:nvPr/>
        </p:nvSpPr>
        <p:spPr>
          <a:xfrm>
            <a:off x="4562856" y="164592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1" name="head Release PR stuck"/>
          <p:cNvSpPr txBox="1"/>
          <p:nvPr/>
        </p:nvSpPr>
        <p:spPr>
          <a:xfrm>
            <a:off x="5111496" y="160020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Release PR stuck</a:t>
            </a:r>
            <a:endParaRPr lang="en-US" sz="1800" dirty="0"/>
          </a:p>
        </p:txBody>
      </p:sp>
      <p:sp>
        <p:nvSpPr>
          <p:cNvPr id="12" name="body Release PR stuck"/>
          <p:cNvSpPr txBox="1"/>
          <p:nvPr/>
        </p:nvSpPr>
        <p:spPr>
          <a:xfrm>
            <a:off x="4562856" y="2240280"/>
            <a:ext cx="3063240" cy="1188720"/>
          </a:xfrm>
          <a:prstGeom prst="rect">
            <a:avLst/>
          </a:prstGeom>
          <a:noFill/>
          <a:ln/>
        </p:spPr>
        <p:txBody>
          <a:bodyPr wrap="square" lIns="0" tIns="0" rIns="0" bIns="0" rtlCol="0" anchor="t"/>
          <a:lstStyle/>
          <a:p>
            <a:pPr indent="0" marL="0">
              <a:buNone/>
            </a:pPr>
            <a:r>
              <a:rPr lang="en-US" sz="1500" dirty="0">
                <a:solidFill>
                  <a:schemeClr val="tx1"/>
                </a:solidFill>
              </a:rPr>
              <a:t>Without FORWARD_MERGE_TOKEN it only logs a warning. Merge by hand, and someone else must approve.</a:t>
            </a:r>
            <a:endParaRPr lang="en-US" sz="1500" dirty="0"/>
          </a:p>
        </p:txBody>
      </p:sp>
      <p:sp>
        <p:nvSpPr>
          <p:cNvPr id="13" name="card Deploy silently skipped"/>
          <p:cNvSpPr/>
          <p:nvPr/>
        </p:nvSpPr>
        <p:spPr>
          <a:xfrm>
            <a:off x="8119872" y="1417320"/>
            <a:ext cx="3520440" cy="2148840"/>
          </a:xfrm>
          <a:prstGeom prst="roundRect">
            <a:avLst>
              <a:gd name="adj" fmla="val 3404"/>
            </a:avLst>
          </a:prstGeom>
          <a:solidFill>
            <a:schemeClr val="bg2"/>
          </a:solidFill>
          <a:ln w="12700">
            <a:solidFill>
              <a:schemeClr val="bg2"/>
            </a:solidFill>
            <a:prstDash val="solid"/>
          </a:ln>
        </p:spPr>
      </p:sp>
      <p:sp>
        <p:nvSpPr>
          <p:cNvPr id="14" name="warn Deploy silently skipped"/>
          <p:cNvSpPr/>
          <p:nvPr/>
        </p:nvSpPr>
        <p:spPr>
          <a:xfrm>
            <a:off x="8348472" y="1645920"/>
            <a:ext cx="420624" cy="420624"/>
          </a:xfrm>
          <a:prstGeom prst="ellipse">
            <a:avLst/>
          </a:prstGeom>
          <a:solidFill>
            <a:schemeClr val="accent2"/>
          </a:solidFill>
          <a:ln w="12700">
            <a:solidFill>
              <a:schemeClr val="accent2"/>
            </a:solidFill>
            <a:prstDash val="solid"/>
          </a:ln>
        </p:spPr>
      </p:sp>
      <p:sp>
        <p:nvSpPr>
          <p:cNvPr id="15" name="warn Deploy silently skipped mark"/>
          <p:cNvSpPr txBox="1"/>
          <p:nvPr/>
        </p:nvSpPr>
        <p:spPr>
          <a:xfrm>
            <a:off x="8348472" y="164592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6" name="head Deploy silently skipped"/>
          <p:cNvSpPr txBox="1"/>
          <p:nvPr/>
        </p:nvSpPr>
        <p:spPr>
          <a:xfrm>
            <a:off x="8897112" y="160020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Deploy silently skipped</a:t>
            </a:r>
            <a:endParaRPr lang="en-US" sz="1800" dirty="0"/>
          </a:p>
        </p:txBody>
      </p:sp>
      <p:sp>
        <p:nvSpPr>
          <p:cNvPr id="17" name="body Deploy silently skipped"/>
          <p:cNvSpPr txBox="1"/>
          <p:nvPr/>
        </p:nvSpPr>
        <p:spPr>
          <a:xfrm>
            <a:off x="8348472" y="2240280"/>
            <a:ext cx="3063240" cy="1188720"/>
          </a:xfrm>
          <a:prstGeom prst="rect">
            <a:avLst/>
          </a:prstGeom>
          <a:noFill/>
          <a:ln/>
        </p:spPr>
        <p:txBody>
          <a:bodyPr wrap="square" lIns="0" tIns="0" rIns="0" bIns="0" rtlCol="0" anchor="t"/>
          <a:lstStyle/>
          <a:p>
            <a:pPr indent="0" marL="0">
              <a:buNone/>
            </a:pPr>
            <a:r>
              <a:rPr lang="en-US" sz="1500" dirty="0">
                <a:solidFill>
                  <a:schemeClr val="tx1"/>
                </a:solidFill>
              </a:rPr>
              <a:t>An empty tag skips deploy-production and the run still shows green. Check the job ran.</a:t>
            </a:r>
            <a:endParaRPr lang="en-US" sz="1500" dirty="0"/>
          </a:p>
        </p:txBody>
      </p:sp>
      <p:sp>
        <p:nvSpPr>
          <p:cNvPr id="18" name="card Nobody can approve"/>
          <p:cNvSpPr/>
          <p:nvPr/>
        </p:nvSpPr>
        <p:spPr>
          <a:xfrm>
            <a:off x="548640" y="3794760"/>
            <a:ext cx="3520440" cy="2148840"/>
          </a:xfrm>
          <a:prstGeom prst="roundRect">
            <a:avLst>
              <a:gd name="adj" fmla="val 3404"/>
            </a:avLst>
          </a:prstGeom>
          <a:solidFill>
            <a:schemeClr val="bg2"/>
          </a:solidFill>
          <a:ln w="12700">
            <a:solidFill>
              <a:schemeClr val="bg2"/>
            </a:solidFill>
            <a:prstDash val="solid"/>
          </a:ln>
        </p:spPr>
      </p:sp>
      <p:sp>
        <p:nvSpPr>
          <p:cNvPr id="19" name="warn Nobody can approve"/>
          <p:cNvSpPr/>
          <p:nvPr/>
        </p:nvSpPr>
        <p:spPr>
          <a:xfrm>
            <a:off x="777240" y="4023360"/>
            <a:ext cx="420624" cy="420624"/>
          </a:xfrm>
          <a:prstGeom prst="ellipse">
            <a:avLst/>
          </a:prstGeom>
          <a:solidFill>
            <a:schemeClr val="accent2"/>
          </a:solidFill>
          <a:ln w="12700">
            <a:solidFill>
              <a:schemeClr val="accent2"/>
            </a:solidFill>
            <a:prstDash val="solid"/>
          </a:ln>
        </p:spPr>
      </p:sp>
      <p:sp>
        <p:nvSpPr>
          <p:cNvPr id="20" name="warn Nobody can approve mark"/>
          <p:cNvSpPr txBox="1"/>
          <p:nvPr/>
        </p:nvSpPr>
        <p:spPr>
          <a:xfrm>
            <a:off x="777240" y="402336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1" name="head Nobody can approve"/>
          <p:cNvSpPr txBox="1"/>
          <p:nvPr/>
        </p:nvSpPr>
        <p:spPr>
          <a:xfrm>
            <a:off x="1325880" y="397764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Nobody can approve</a:t>
            </a:r>
            <a:endParaRPr lang="en-US" sz="1800" dirty="0"/>
          </a:p>
        </p:txBody>
      </p:sp>
      <p:sp>
        <p:nvSpPr>
          <p:cNvPr id="22" name="body Nobody can approve"/>
          <p:cNvSpPr txBox="1"/>
          <p:nvPr/>
        </p:nvSpPr>
        <p:spPr>
          <a:xfrm>
            <a:off x="777240" y="4617720"/>
            <a:ext cx="3063240" cy="1188720"/>
          </a:xfrm>
          <a:prstGeom prst="rect">
            <a:avLst/>
          </a:prstGeom>
          <a:noFill/>
          <a:ln/>
        </p:spPr>
        <p:txBody>
          <a:bodyPr wrap="square" lIns="0" tIns="0" rIns="0" bIns="0" rtlCol="0" anchor="t"/>
          <a:lstStyle/>
          <a:p>
            <a:pPr indent="0" marL="0">
              <a:buNone/>
            </a:pPr>
            <a:r>
              <a:rPr lang="en-US" sz="1500" dirty="0">
                <a:solidFill>
                  <a:schemeClr val="tx1"/>
                </a:solidFill>
              </a:rPr>
              <a:t>Whoever triggered the run can't approve it. Have a second Deployer lined up.</a:t>
            </a:r>
            <a:endParaRPr lang="en-US" sz="1500" dirty="0"/>
          </a:p>
        </p:txBody>
      </p:sp>
      <p:sp>
        <p:nvSpPr>
          <p:cNvPr id="23" name="card Secret missing"/>
          <p:cNvSpPr/>
          <p:nvPr/>
        </p:nvSpPr>
        <p:spPr>
          <a:xfrm>
            <a:off x="4334256" y="3794760"/>
            <a:ext cx="3520440" cy="2148840"/>
          </a:xfrm>
          <a:prstGeom prst="roundRect">
            <a:avLst>
              <a:gd name="adj" fmla="val 3404"/>
            </a:avLst>
          </a:prstGeom>
          <a:solidFill>
            <a:schemeClr val="bg2"/>
          </a:solidFill>
          <a:ln w="12700">
            <a:solidFill>
              <a:schemeClr val="bg2"/>
            </a:solidFill>
            <a:prstDash val="solid"/>
          </a:ln>
        </p:spPr>
      </p:sp>
      <p:sp>
        <p:nvSpPr>
          <p:cNvPr id="24" name="warn Secret missing"/>
          <p:cNvSpPr/>
          <p:nvPr/>
        </p:nvSpPr>
        <p:spPr>
          <a:xfrm>
            <a:off x="4562856" y="4023360"/>
            <a:ext cx="420624" cy="420624"/>
          </a:xfrm>
          <a:prstGeom prst="ellipse">
            <a:avLst/>
          </a:prstGeom>
          <a:solidFill>
            <a:schemeClr val="accent2"/>
          </a:solidFill>
          <a:ln w="12700">
            <a:solidFill>
              <a:schemeClr val="accent2"/>
            </a:solidFill>
            <a:prstDash val="solid"/>
          </a:ln>
        </p:spPr>
      </p:sp>
      <p:sp>
        <p:nvSpPr>
          <p:cNvPr id="25" name="warn Secret missing mark"/>
          <p:cNvSpPr txBox="1"/>
          <p:nvPr/>
        </p:nvSpPr>
        <p:spPr>
          <a:xfrm>
            <a:off x="4562856" y="402336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6" name="head Secret missing"/>
          <p:cNvSpPr txBox="1"/>
          <p:nvPr/>
        </p:nvSpPr>
        <p:spPr>
          <a:xfrm>
            <a:off x="5111496" y="397764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Secret missing</a:t>
            </a:r>
            <a:endParaRPr lang="en-US" sz="1800" dirty="0"/>
          </a:p>
        </p:txBody>
      </p:sp>
      <p:sp>
        <p:nvSpPr>
          <p:cNvPr id="27" name="body Secret missing"/>
          <p:cNvSpPr txBox="1"/>
          <p:nvPr/>
        </p:nvSpPr>
        <p:spPr>
          <a:xfrm>
            <a:off x="4562856" y="4617720"/>
            <a:ext cx="3063240" cy="1188720"/>
          </a:xfrm>
          <a:prstGeom prst="rect">
            <a:avLst/>
          </a:prstGeom>
          <a:noFill/>
          <a:ln/>
        </p:spPr>
        <p:txBody>
          <a:bodyPr wrap="square" lIns="0" tIns="0" rIns="0" bIns="0" rtlCol="0" anchor="t"/>
          <a:lstStyle/>
          <a:p>
            <a:pPr indent="0" marL="0">
              <a:buNone/>
            </a:pPr>
            <a:r>
              <a:rPr lang="en-US" sz="1500" dirty="0">
                <a:solidFill>
                  <a:schemeClr val="tx1"/>
                </a:solidFill>
              </a:rPr>
              <a:t>A missing Secret Manager secret or accessor role fails the run. Safe: nothing changed yet.</a:t>
            </a:r>
            <a:endParaRPr lang="en-US" sz="1500" dirty="0"/>
          </a:p>
        </p:txBody>
      </p:sp>
      <p:sp>
        <p:nvSpPr>
          <p:cNvPr id="28" name="card Prerequisites not done"/>
          <p:cNvSpPr/>
          <p:nvPr/>
        </p:nvSpPr>
        <p:spPr>
          <a:xfrm>
            <a:off x="8119872" y="3794760"/>
            <a:ext cx="3520440" cy="2148840"/>
          </a:xfrm>
          <a:prstGeom prst="roundRect">
            <a:avLst>
              <a:gd name="adj" fmla="val 3404"/>
            </a:avLst>
          </a:prstGeom>
          <a:solidFill>
            <a:schemeClr val="bg2"/>
          </a:solidFill>
          <a:ln w="12700">
            <a:solidFill>
              <a:schemeClr val="bg2"/>
            </a:solidFill>
            <a:prstDash val="solid"/>
          </a:ln>
        </p:spPr>
      </p:sp>
      <p:sp>
        <p:nvSpPr>
          <p:cNvPr id="29" name="warn Prerequisites not done"/>
          <p:cNvSpPr/>
          <p:nvPr/>
        </p:nvSpPr>
        <p:spPr>
          <a:xfrm>
            <a:off x="8348472" y="4023360"/>
            <a:ext cx="420624" cy="420624"/>
          </a:xfrm>
          <a:prstGeom prst="ellipse">
            <a:avLst/>
          </a:prstGeom>
          <a:solidFill>
            <a:schemeClr val="accent2"/>
          </a:solidFill>
          <a:ln w="12700">
            <a:solidFill>
              <a:schemeClr val="accent2"/>
            </a:solidFill>
            <a:prstDash val="solid"/>
          </a:ln>
        </p:spPr>
      </p:sp>
      <p:sp>
        <p:nvSpPr>
          <p:cNvPr id="30" name="warn Prerequisites not done mark"/>
          <p:cNvSpPr txBox="1"/>
          <p:nvPr/>
        </p:nvSpPr>
        <p:spPr>
          <a:xfrm>
            <a:off x="8348472" y="402336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1" name="head Prerequisites not done"/>
          <p:cNvSpPr txBox="1"/>
          <p:nvPr/>
        </p:nvSpPr>
        <p:spPr>
          <a:xfrm>
            <a:off x="8897112" y="397764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Prerequisites not done</a:t>
            </a:r>
            <a:endParaRPr lang="en-US" sz="1800" dirty="0"/>
          </a:p>
        </p:txBody>
      </p:sp>
      <p:sp>
        <p:nvSpPr>
          <p:cNvPr id="32" name="body Prerequisites not done"/>
          <p:cNvSpPr txBox="1"/>
          <p:nvPr/>
        </p:nvSpPr>
        <p:spPr>
          <a:xfrm>
            <a:off x="8348472" y="4617720"/>
            <a:ext cx="3063240" cy="1188720"/>
          </a:xfrm>
          <a:prstGeom prst="rect">
            <a:avLst/>
          </a:prstGeom>
          <a:noFill/>
          <a:ln/>
        </p:spPr>
        <p:txBody>
          <a:bodyPr wrap="square" lIns="0" tIns="0" rIns="0" bIns="0" rtlCol="0" anchor="t"/>
          <a:lstStyle/>
          <a:p>
            <a:pPr indent="0" marL="0">
              <a:buNone/>
            </a:pPr>
            <a:r>
              <a:rPr lang="en-US" sz="1500" dirty="0">
                <a:solidFill>
                  <a:schemeClr val="tx1"/>
                </a:solidFill>
              </a:rPr>
              <a:t>Authentik groups and Cloud SQL flags live outside the code. Set them up before you deploy.</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Failure points: during and after</a:t>
            </a:r>
            <a:endParaRPr lang="en-US" sz="3600" dirty="0"/>
          </a:p>
        </p:txBody>
      </p:sp>
      <p:sp>
        <p:nvSpPr>
          <p:cNvPr id="3" name="card Schema ahead of code"/>
          <p:cNvSpPr/>
          <p:nvPr/>
        </p:nvSpPr>
        <p:spPr>
          <a:xfrm>
            <a:off x="548640" y="1417320"/>
            <a:ext cx="3520440" cy="2148840"/>
          </a:xfrm>
          <a:prstGeom prst="roundRect">
            <a:avLst>
              <a:gd name="adj" fmla="val 3404"/>
            </a:avLst>
          </a:prstGeom>
          <a:solidFill>
            <a:schemeClr val="bg2"/>
          </a:solidFill>
          <a:ln w="12700">
            <a:solidFill>
              <a:schemeClr val="bg2"/>
            </a:solidFill>
            <a:prstDash val="solid"/>
          </a:ln>
        </p:spPr>
      </p:sp>
      <p:sp>
        <p:nvSpPr>
          <p:cNvPr id="4" name="warn Schema ahead of code"/>
          <p:cNvSpPr/>
          <p:nvPr/>
        </p:nvSpPr>
        <p:spPr>
          <a:xfrm>
            <a:off x="777240" y="1645920"/>
            <a:ext cx="420624" cy="420624"/>
          </a:xfrm>
          <a:prstGeom prst="ellipse">
            <a:avLst/>
          </a:prstGeom>
          <a:solidFill>
            <a:schemeClr val="accent2"/>
          </a:solidFill>
          <a:ln w="12700">
            <a:solidFill>
              <a:schemeClr val="accent2"/>
            </a:solidFill>
            <a:prstDash val="solid"/>
          </a:ln>
        </p:spPr>
      </p:sp>
      <p:sp>
        <p:nvSpPr>
          <p:cNvPr id="5" name="warn Schema ahead of code mark"/>
          <p:cNvSpPr txBox="1"/>
          <p:nvPr/>
        </p:nvSpPr>
        <p:spPr>
          <a:xfrm>
            <a:off x="777240" y="164592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6" name="head Schema ahead of code"/>
          <p:cNvSpPr txBox="1"/>
          <p:nvPr/>
        </p:nvSpPr>
        <p:spPr>
          <a:xfrm>
            <a:off x="1325880" y="160020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Schema ahead of code</a:t>
            </a:r>
            <a:endParaRPr lang="en-US" sz="1800" dirty="0"/>
          </a:p>
        </p:txBody>
      </p:sp>
      <p:sp>
        <p:nvSpPr>
          <p:cNvPr id="7" name="body Schema ahead of code"/>
          <p:cNvSpPr txBox="1"/>
          <p:nvPr/>
        </p:nvSpPr>
        <p:spPr>
          <a:xfrm>
            <a:off x="777240" y="2240280"/>
            <a:ext cx="3063240" cy="1188720"/>
          </a:xfrm>
          <a:prstGeom prst="rect">
            <a:avLst/>
          </a:prstGeom>
          <a:noFill/>
          <a:ln/>
        </p:spPr>
        <p:txBody>
          <a:bodyPr wrap="square" lIns="0" tIns="0" rIns="0" bIns="0" rtlCol="0" anchor="t"/>
          <a:lstStyle/>
          <a:p>
            <a:pPr indent="0" marL="0">
              <a:buNone/>
            </a:pPr>
            <a:r>
              <a:rPr lang="en-US" sz="1500" dirty="0">
                <a:solidFill>
                  <a:schemeClr val="tx1"/>
                </a:solidFill>
              </a:rPr>
              <a:t>Migrations run before the deploy. If the deploy fails, old code serves the new schema. Keep migrations additive.</a:t>
            </a:r>
            <a:endParaRPr lang="en-US" sz="1500" dirty="0"/>
          </a:p>
        </p:txBody>
      </p:sp>
      <p:sp>
        <p:nvSpPr>
          <p:cNvPr id="8" name="card App won't start"/>
          <p:cNvSpPr/>
          <p:nvPr/>
        </p:nvSpPr>
        <p:spPr>
          <a:xfrm>
            <a:off x="4334256" y="1417320"/>
            <a:ext cx="3520440" cy="2148840"/>
          </a:xfrm>
          <a:prstGeom prst="roundRect">
            <a:avLst>
              <a:gd name="adj" fmla="val 3404"/>
            </a:avLst>
          </a:prstGeom>
          <a:solidFill>
            <a:schemeClr val="bg2"/>
          </a:solidFill>
          <a:ln w="12700">
            <a:solidFill>
              <a:schemeClr val="bg2"/>
            </a:solidFill>
            <a:prstDash val="solid"/>
          </a:ln>
        </p:spPr>
      </p:sp>
      <p:sp>
        <p:nvSpPr>
          <p:cNvPr id="9" name="warn App won't start"/>
          <p:cNvSpPr/>
          <p:nvPr/>
        </p:nvSpPr>
        <p:spPr>
          <a:xfrm>
            <a:off x="4562856" y="1645920"/>
            <a:ext cx="420624" cy="420624"/>
          </a:xfrm>
          <a:prstGeom prst="ellipse">
            <a:avLst/>
          </a:prstGeom>
          <a:solidFill>
            <a:schemeClr val="accent2"/>
          </a:solidFill>
          <a:ln w="12700">
            <a:solidFill>
              <a:schemeClr val="accent2"/>
            </a:solidFill>
            <a:prstDash val="solid"/>
          </a:ln>
        </p:spPr>
      </p:sp>
      <p:sp>
        <p:nvSpPr>
          <p:cNvPr id="10" name="warn App won&amp;apos;t start mark"/>
          <p:cNvSpPr txBox="1"/>
          <p:nvPr/>
        </p:nvSpPr>
        <p:spPr>
          <a:xfrm>
            <a:off x="4562856" y="164592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1" name="head App won&amp;apos;t start"/>
          <p:cNvSpPr txBox="1"/>
          <p:nvPr/>
        </p:nvSpPr>
        <p:spPr>
          <a:xfrm>
            <a:off x="5111496" y="160020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App won't start</a:t>
            </a:r>
            <a:endParaRPr lang="en-US" sz="1800" dirty="0"/>
          </a:p>
        </p:txBody>
      </p:sp>
      <p:sp>
        <p:nvSpPr>
          <p:cNvPr id="12" name="body App won&amp;apos;t start"/>
          <p:cNvSpPr txBox="1"/>
          <p:nvPr/>
        </p:nvSpPr>
        <p:spPr>
          <a:xfrm>
            <a:off x="4562856" y="2240280"/>
            <a:ext cx="3063240" cy="1188720"/>
          </a:xfrm>
          <a:prstGeom prst="rect">
            <a:avLst/>
          </a:prstGeom>
          <a:noFill/>
          <a:ln/>
        </p:spPr>
        <p:txBody>
          <a:bodyPr wrap="square" lIns="0" tIns="0" rIns="0" bIns="0" rtlCol="0" anchor="t"/>
          <a:lstStyle/>
          <a:p>
            <a:pPr indent="0" marL="0">
              <a:buNone/>
            </a:pPr>
            <a:r>
              <a:rPr lang="en-US" sz="1500" dirty="0">
                <a:solidFill>
                  <a:schemeClr val="tx1"/>
                </a:solidFill>
              </a:rPr>
              <a:t>8 workers need F4_1G or instances OOM and churn. Bad auth config aborts startup.</a:t>
            </a:r>
            <a:endParaRPr lang="en-US" sz="1500" dirty="0"/>
          </a:p>
        </p:txBody>
      </p:sp>
      <p:sp>
        <p:nvSpPr>
          <p:cNvPr id="13" name="card Smoke test red"/>
          <p:cNvSpPr/>
          <p:nvPr/>
        </p:nvSpPr>
        <p:spPr>
          <a:xfrm>
            <a:off x="8119872" y="1417320"/>
            <a:ext cx="3520440" cy="2148840"/>
          </a:xfrm>
          <a:prstGeom prst="roundRect">
            <a:avLst>
              <a:gd name="adj" fmla="val 3404"/>
            </a:avLst>
          </a:prstGeom>
          <a:solidFill>
            <a:schemeClr val="bg2"/>
          </a:solidFill>
          <a:ln w="12700">
            <a:solidFill>
              <a:schemeClr val="bg2"/>
            </a:solidFill>
            <a:prstDash val="solid"/>
          </a:ln>
        </p:spPr>
      </p:sp>
      <p:sp>
        <p:nvSpPr>
          <p:cNvPr id="14" name="warn Smoke test red"/>
          <p:cNvSpPr/>
          <p:nvPr/>
        </p:nvSpPr>
        <p:spPr>
          <a:xfrm>
            <a:off x="8348472" y="1645920"/>
            <a:ext cx="420624" cy="420624"/>
          </a:xfrm>
          <a:prstGeom prst="ellipse">
            <a:avLst/>
          </a:prstGeom>
          <a:solidFill>
            <a:schemeClr val="accent2"/>
          </a:solidFill>
          <a:ln w="12700">
            <a:solidFill>
              <a:schemeClr val="accent2"/>
            </a:solidFill>
            <a:prstDash val="solid"/>
          </a:ln>
        </p:spPr>
      </p:sp>
      <p:sp>
        <p:nvSpPr>
          <p:cNvPr id="15" name="warn Smoke test red mark"/>
          <p:cNvSpPr txBox="1"/>
          <p:nvPr/>
        </p:nvSpPr>
        <p:spPr>
          <a:xfrm>
            <a:off x="8348472" y="164592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6" name="head Smoke test red"/>
          <p:cNvSpPr txBox="1"/>
          <p:nvPr/>
        </p:nvSpPr>
        <p:spPr>
          <a:xfrm>
            <a:off x="8897112" y="160020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Smoke test red</a:t>
            </a:r>
            <a:endParaRPr lang="en-US" sz="1800" dirty="0"/>
          </a:p>
        </p:txBody>
      </p:sp>
      <p:sp>
        <p:nvSpPr>
          <p:cNvPr id="17" name="body Smoke test red"/>
          <p:cNvSpPr txBox="1"/>
          <p:nvPr/>
        </p:nvSpPr>
        <p:spPr>
          <a:xfrm>
            <a:off x="8348472" y="2240280"/>
            <a:ext cx="3063240" cy="1188720"/>
          </a:xfrm>
          <a:prstGeom prst="rect">
            <a:avLst/>
          </a:prstGeom>
          <a:noFill/>
          <a:ln/>
        </p:spPr>
        <p:txBody>
          <a:bodyPr wrap="square" lIns="0" tIns="0" rIns="0" bIns="0" rtlCol="0" anchor="t"/>
          <a:lstStyle/>
          <a:p>
            <a:pPr indent="0" marL="0">
              <a:buNone/>
            </a:pPr>
            <a:r>
              <a:rPr lang="en-US" sz="1500" dirty="0">
                <a:solidFill>
                  <a:schemeClr val="tx1"/>
                </a:solidFill>
              </a:rPr>
              <a:t>Traffic has already moved to the new version. Treat it as an incident and roll back.</a:t>
            </a:r>
            <a:endParaRPr lang="en-US" sz="1500" dirty="0"/>
          </a:p>
        </p:txBody>
      </p:sp>
      <p:sp>
        <p:nvSpPr>
          <p:cNvPr id="18" name="card No rollback target"/>
          <p:cNvSpPr/>
          <p:nvPr/>
        </p:nvSpPr>
        <p:spPr>
          <a:xfrm>
            <a:off x="548640" y="3794760"/>
            <a:ext cx="3520440" cy="2148840"/>
          </a:xfrm>
          <a:prstGeom prst="roundRect">
            <a:avLst>
              <a:gd name="adj" fmla="val 3404"/>
            </a:avLst>
          </a:prstGeom>
          <a:solidFill>
            <a:schemeClr val="bg2"/>
          </a:solidFill>
          <a:ln w="12700">
            <a:solidFill>
              <a:schemeClr val="bg2"/>
            </a:solidFill>
            <a:prstDash val="solid"/>
          </a:ln>
        </p:spPr>
      </p:sp>
      <p:sp>
        <p:nvSpPr>
          <p:cNvPr id="19" name="warn No rollback target"/>
          <p:cNvSpPr/>
          <p:nvPr/>
        </p:nvSpPr>
        <p:spPr>
          <a:xfrm>
            <a:off x="777240" y="4023360"/>
            <a:ext cx="420624" cy="420624"/>
          </a:xfrm>
          <a:prstGeom prst="ellipse">
            <a:avLst/>
          </a:prstGeom>
          <a:solidFill>
            <a:schemeClr val="accent2"/>
          </a:solidFill>
          <a:ln w="12700">
            <a:solidFill>
              <a:schemeClr val="accent2"/>
            </a:solidFill>
            <a:prstDash val="solid"/>
          </a:ln>
        </p:spPr>
      </p:sp>
      <p:sp>
        <p:nvSpPr>
          <p:cNvPr id="20" name="warn No rollback target mark"/>
          <p:cNvSpPr txBox="1"/>
          <p:nvPr/>
        </p:nvSpPr>
        <p:spPr>
          <a:xfrm>
            <a:off x="777240" y="402336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1" name="head No rollback target"/>
          <p:cNvSpPr txBox="1"/>
          <p:nvPr/>
        </p:nvSpPr>
        <p:spPr>
          <a:xfrm>
            <a:off x="1325880" y="397764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No rollback target</a:t>
            </a:r>
            <a:endParaRPr lang="en-US" sz="1800" dirty="0"/>
          </a:p>
        </p:txBody>
      </p:sp>
      <p:sp>
        <p:nvSpPr>
          <p:cNvPr id="22" name="body No rollback target"/>
          <p:cNvSpPr txBox="1"/>
          <p:nvPr/>
        </p:nvSpPr>
        <p:spPr>
          <a:xfrm>
            <a:off x="777240" y="4617720"/>
            <a:ext cx="3063240" cy="1188720"/>
          </a:xfrm>
          <a:prstGeom prst="rect">
            <a:avLst/>
          </a:prstGeom>
          <a:noFill/>
          <a:ln/>
        </p:spPr>
        <p:txBody>
          <a:bodyPr wrap="square" lIns="0" tIns="0" rIns="0" bIns="0" rtlCol="0" anchor="t"/>
          <a:lstStyle/>
          <a:p>
            <a:pPr indent="0" marL="0">
              <a:buNone/>
            </a:pPr>
            <a:r>
              <a:rPr lang="en-US" sz="1500" dirty="0">
                <a:solidFill>
                  <a:schemeClr val="tx1"/>
                </a:solidFill>
              </a:rPr>
              <a:t>Cleanup deletes the oldest non-serving version, usually the one you replaced.</a:t>
            </a:r>
            <a:endParaRPr lang="en-US" sz="1500" dirty="0"/>
          </a:p>
        </p:txBody>
      </p:sp>
      <p:sp>
        <p:nvSpPr>
          <p:cNvPr id="23" name="card Data migrations skipped"/>
          <p:cNvSpPr/>
          <p:nvPr/>
        </p:nvSpPr>
        <p:spPr>
          <a:xfrm>
            <a:off x="4334256" y="3794760"/>
            <a:ext cx="3520440" cy="2148840"/>
          </a:xfrm>
          <a:prstGeom prst="roundRect">
            <a:avLst>
              <a:gd name="adj" fmla="val 3404"/>
            </a:avLst>
          </a:prstGeom>
          <a:solidFill>
            <a:schemeClr val="bg2"/>
          </a:solidFill>
          <a:ln w="12700">
            <a:solidFill>
              <a:schemeClr val="bg2"/>
            </a:solidFill>
            <a:prstDash val="solid"/>
          </a:ln>
        </p:spPr>
      </p:sp>
      <p:sp>
        <p:nvSpPr>
          <p:cNvPr id="24" name="warn Data migrations skipped"/>
          <p:cNvSpPr/>
          <p:nvPr/>
        </p:nvSpPr>
        <p:spPr>
          <a:xfrm>
            <a:off x="4562856" y="4023360"/>
            <a:ext cx="420624" cy="420624"/>
          </a:xfrm>
          <a:prstGeom prst="ellipse">
            <a:avLst/>
          </a:prstGeom>
          <a:solidFill>
            <a:schemeClr val="accent2"/>
          </a:solidFill>
          <a:ln w="12700">
            <a:solidFill>
              <a:schemeClr val="accent2"/>
            </a:solidFill>
            <a:prstDash val="solid"/>
          </a:ln>
        </p:spPr>
      </p:sp>
      <p:sp>
        <p:nvSpPr>
          <p:cNvPr id="25" name="warn Data migrations skipped mark"/>
          <p:cNvSpPr txBox="1"/>
          <p:nvPr/>
        </p:nvSpPr>
        <p:spPr>
          <a:xfrm>
            <a:off x="4562856" y="402336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6" name="head Data migrations skipped"/>
          <p:cNvSpPr txBox="1"/>
          <p:nvPr/>
        </p:nvSpPr>
        <p:spPr>
          <a:xfrm>
            <a:off x="5111496" y="397764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Data migrations skipped</a:t>
            </a:r>
            <a:endParaRPr lang="en-US" sz="1800" dirty="0"/>
          </a:p>
        </p:txBody>
      </p:sp>
      <p:sp>
        <p:nvSpPr>
          <p:cNvPr id="27" name="body Data migrations skipped"/>
          <p:cNvSpPr txBox="1"/>
          <p:nvPr/>
        </p:nvSpPr>
        <p:spPr>
          <a:xfrm>
            <a:off x="4562856" y="4617720"/>
            <a:ext cx="3063240" cy="1188720"/>
          </a:xfrm>
          <a:prstGeom prst="rect">
            <a:avLst/>
          </a:prstGeom>
          <a:noFill/>
          <a:ln/>
        </p:spPr>
        <p:txBody>
          <a:bodyPr wrap="square" lIns="0" tIns="0" rIns="0" bIns="0" rtlCol="0" anchor="t"/>
          <a:lstStyle/>
          <a:p>
            <a:pPr indent="0" marL="0">
              <a:buNone/>
            </a:pPr>
            <a:r>
              <a:rPr lang="en-US" sz="1500" dirty="0">
                <a:solidFill>
                  <a:schemeClr val="tx1"/>
                </a:solidFill>
              </a:rPr>
              <a:t>CD only warns. Features ship with empty or stale data until someone runs them.</a:t>
            </a:r>
            <a:endParaRPr lang="en-US" sz="1500" dirty="0"/>
          </a:p>
        </p:txBody>
      </p:sp>
      <p:sp>
        <p:nvSpPr>
          <p:cNvPr id="28" name="card Back-merge left open"/>
          <p:cNvSpPr/>
          <p:nvPr/>
        </p:nvSpPr>
        <p:spPr>
          <a:xfrm>
            <a:off x="8119872" y="3794760"/>
            <a:ext cx="3520440" cy="2148840"/>
          </a:xfrm>
          <a:prstGeom prst="roundRect">
            <a:avLst>
              <a:gd name="adj" fmla="val 3404"/>
            </a:avLst>
          </a:prstGeom>
          <a:solidFill>
            <a:schemeClr val="bg2"/>
          </a:solidFill>
          <a:ln w="12700">
            <a:solidFill>
              <a:schemeClr val="bg2"/>
            </a:solidFill>
            <a:prstDash val="solid"/>
          </a:ln>
        </p:spPr>
      </p:sp>
      <p:sp>
        <p:nvSpPr>
          <p:cNvPr id="29" name="warn Back-merge left open"/>
          <p:cNvSpPr/>
          <p:nvPr/>
        </p:nvSpPr>
        <p:spPr>
          <a:xfrm>
            <a:off x="8348472" y="4023360"/>
            <a:ext cx="420624" cy="420624"/>
          </a:xfrm>
          <a:prstGeom prst="ellipse">
            <a:avLst/>
          </a:prstGeom>
          <a:solidFill>
            <a:schemeClr val="accent2"/>
          </a:solidFill>
          <a:ln w="12700">
            <a:solidFill>
              <a:schemeClr val="accent2"/>
            </a:solidFill>
            <a:prstDash val="solid"/>
          </a:ln>
        </p:spPr>
      </p:sp>
      <p:sp>
        <p:nvSpPr>
          <p:cNvPr id="30" name="warn Back-merge left open mark"/>
          <p:cNvSpPr txBox="1"/>
          <p:nvPr/>
        </p:nvSpPr>
        <p:spPr>
          <a:xfrm>
            <a:off x="8348472" y="4023360"/>
            <a:ext cx="420624" cy="420624"/>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1" name="head Back-merge left open"/>
          <p:cNvSpPr txBox="1"/>
          <p:nvPr/>
        </p:nvSpPr>
        <p:spPr>
          <a:xfrm>
            <a:off x="8897112" y="3977640"/>
            <a:ext cx="2560320" cy="512064"/>
          </a:xfrm>
          <a:prstGeom prst="rect">
            <a:avLst/>
          </a:prstGeom>
          <a:noFill/>
          <a:ln/>
        </p:spPr>
        <p:txBody>
          <a:bodyPr wrap="square" lIns="0" tIns="0" rIns="0" bIns="0" rtlCol="0" anchor="ctr"/>
          <a:lstStyle/>
          <a:p>
            <a:pPr indent="0" marL="0">
              <a:buNone/>
            </a:pPr>
            <a:r>
              <a:rPr lang="en-US" sz="1800" b="1" dirty="0">
                <a:solidFill>
                  <a:schemeClr val="tx2"/>
                </a:solidFill>
              </a:rPr>
              <a:t>Back-merge left open</a:t>
            </a:r>
            <a:endParaRPr lang="en-US" sz="1800" dirty="0"/>
          </a:p>
        </p:txBody>
      </p:sp>
      <p:sp>
        <p:nvSpPr>
          <p:cNvPr id="32" name="body Back-merge left open"/>
          <p:cNvSpPr txBox="1"/>
          <p:nvPr/>
        </p:nvSpPr>
        <p:spPr>
          <a:xfrm>
            <a:off x="8348472" y="4617720"/>
            <a:ext cx="3063240" cy="1188720"/>
          </a:xfrm>
          <a:prstGeom prst="rect">
            <a:avLst/>
          </a:prstGeom>
          <a:noFill/>
          <a:ln/>
        </p:spPr>
        <p:txBody>
          <a:bodyPr wrap="square" lIns="0" tIns="0" rIns="0" bIns="0" rtlCol="0" anchor="t"/>
          <a:lstStyle/>
          <a:p>
            <a:pPr indent="0" marL="0">
              <a:buNone/>
            </a:pPr>
            <a:r>
              <a:rPr lang="en-US" sz="1500" dirty="0">
                <a:solidFill>
                  <a:schemeClr val="tx1"/>
                </a:solidFill>
              </a:rPr>
              <a:t>Staging drifts from production and the next changelog is a mess. Merge it the same day.</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Rolling back</a:t>
            </a:r>
            <a:endParaRPr lang="en-US" sz="3600" dirty="0"/>
          </a:p>
        </p:txBody>
      </p:sp>
      <p:sp>
        <p:nvSpPr>
          <p:cNvPr id="3" name="rollback Code"/>
          <p:cNvSpPr/>
          <p:nvPr/>
        </p:nvSpPr>
        <p:spPr>
          <a:xfrm>
            <a:off x="548640" y="1417320"/>
            <a:ext cx="3520440" cy="4343400"/>
          </a:xfrm>
          <a:prstGeom prst="roundRect">
            <a:avLst>
              <a:gd name="adj" fmla="val 2078"/>
            </a:avLst>
          </a:prstGeom>
          <a:solidFill>
            <a:schemeClr val="bg2"/>
          </a:solidFill>
          <a:ln w="12700">
            <a:solidFill>
              <a:schemeClr val="bg2"/>
            </a:solidFill>
            <a:prstDash val="solid"/>
          </a:ln>
        </p:spPr>
      </p:sp>
      <p:sp>
        <p:nvSpPr>
          <p:cNvPr id="4" name="tag Minutes"/>
          <p:cNvSpPr/>
          <p:nvPr/>
        </p:nvSpPr>
        <p:spPr>
          <a:xfrm>
            <a:off x="822960" y="1645920"/>
            <a:ext cx="1737360" cy="384048"/>
          </a:xfrm>
          <a:prstGeom prst="roundRect">
            <a:avLst>
              <a:gd name="adj" fmla="val 47619"/>
            </a:avLst>
          </a:prstGeom>
          <a:solidFill>
            <a:schemeClr val="accent1"/>
          </a:solidFill>
          <a:ln w="12700">
            <a:solidFill>
              <a:schemeClr val="accent1"/>
            </a:solidFill>
            <a:prstDash val="solid"/>
          </a:ln>
        </p:spPr>
      </p:sp>
      <p:sp>
        <p:nvSpPr>
          <p:cNvPr id="5" name="Text 3"/>
          <p:cNvSpPr txBox="1"/>
          <p:nvPr/>
        </p:nvSpPr>
        <p:spPr>
          <a:xfrm>
            <a:off x="822960" y="1645920"/>
            <a:ext cx="1737360" cy="384048"/>
          </a:xfrm>
          <a:prstGeom prst="rect">
            <a:avLst/>
          </a:prstGeom>
          <a:noFill/>
          <a:ln/>
        </p:spPr>
        <p:txBody>
          <a:bodyPr wrap="square" lIns="0" tIns="0" rIns="0" bIns="0" rtlCol="0" anchor="ctr"/>
          <a:lstStyle/>
          <a:p>
            <a:pPr algn="ctr" indent="0" marL="0">
              <a:buNone/>
            </a:pPr>
            <a:r>
              <a:rPr lang="en-US" sz="1300" b="1" dirty="0">
                <a:solidFill>
                  <a:schemeClr val="bg1"/>
                </a:solidFill>
              </a:rPr>
              <a:t>Minutes</a:t>
            </a:r>
            <a:endParaRPr lang="en-US" sz="1300" dirty="0"/>
          </a:p>
        </p:txBody>
      </p:sp>
      <p:sp>
        <p:nvSpPr>
          <p:cNvPr id="6" name="Text 4"/>
          <p:cNvSpPr txBox="1"/>
          <p:nvPr/>
        </p:nvSpPr>
        <p:spPr>
          <a:xfrm>
            <a:off x="822960" y="2194560"/>
            <a:ext cx="2971800" cy="502920"/>
          </a:xfrm>
          <a:prstGeom prst="rect">
            <a:avLst/>
          </a:prstGeom>
          <a:noFill/>
          <a:ln/>
        </p:spPr>
        <p:txBody>
          <a:bodyPr wrap="square" lIns="0" tIns="0" rIns="0" bIns="0" rtlCol="0" anchor="ctr"/>
          <a:lstStyle/>
          <a:p>
            <a:pPr indent="0" marL="0">
              <a:buNone/>
            </a:pPr>
            <a:r>
              <a:rPr lang="en-US" sz="2200" b="1" dirty="0">
                <a:solidFill>
                  <a:schemeClr val="tx2"/>
                </a:solidFill>
              </a:rPr>
              <a:t>Code</a:t>
            </a:r>
            <a:endParaRPr lang="en-US" sz="2200" dirty="0"/>
          </a:p>
        </p:txBody>
      </p:sp>
      <p:sp>
        <p:nvSpPr>
          <p:cNvPr id="7" name="Text 5"/>
          <p:cNvSpPr txBox="1"/>
          <p:nvPr/>
        </p:nvSpPr>
        <p:spPr>
          <a:xfrm>
            <a:off x="822960" y="2788920"/>
            <a:ext cx="2971800" cy="685800"/>
          </a:xfrm>
          <a:prstGeom prst="rect">
            <a:avLst/>
          </a:prstGeom>
          <a:noFill/>
          <a:ln/>
        </p:spPr>
        <p:txBody>
          <a:bodyPr wrap="square" lIns="0" tIns="0" rIns="0" bIns="0" rtlCol="0" anchor="t"/>
          <a:lstStyle/>
          <a:p>
            <a:pPr indent="0" marL="0">
              <a:buNone/>
            </a:pPr>
            <a:r>
              <a:rPr lang="en-US" sz="1500" dirty="0">
                <a:solidFill>
                  <a:schemeClr val="tx1"/>
                </a:solidFill>
              </a:rPr>
              <a:t>Move traffic back to the previous version:</a:t>
            </a:r>
            <a:endParaRPr lang="en-US" sz="1500" dirty="0"/>
          </a:p>
        </p:txBody>
      </p:sp>
      <p:sp>
        <p:nvSpPr>
          <p:cNvPr id="8" name="code"/>
          <p:cNvSpPr/>
          <p:nvPr/>
        </p:nvSpPr>
        <p:spPr>
          <a:xfrm>
            <a:off x="822960" y="3520440"/>
            <a:ext cx="2971800" cy="914400"/>
          </a:xfrm>
          <a:prstGeom prst="rect">
            <a:avLst/>
          </a:prstGeom>
          <a:solidFill>
            <a:schemeClr val="tx2"/>
          </a:solidFill>
          <a:ln w="12700">
            <a:solidFill>
              <a:schemeClr val="tx2"/>
            </a:solidFill>
            <a:prstDash val="solid"/>
          </a:ln>
        </p:spPr>
      </p:sp>
      <p:sp>
        <p:nvSpPr>
          <p:cNvPr id="9" name="Text 7"/>
          <p:cNvSpPr txBox="1"/>
          <p:nvPr/>
        </p:nvSpPr>
        <p:spPr>
          <a:xfrm>
            <a:off x="914400" y="3520440"/>
            <a:ext cx="2788920" cy="91440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gcloud app services set-traffic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ocotillo-api --splits=&lt;PREV&gt;=1</a:t>
            </a:r>
            <a:endParaRPr lang="en-US" sz="1100" dirty="0"/>
          </a:p>
        </p:txBody>
      </p:sp>
      <p:sp>
        <p:nvSpPr>
          <p:cNvPr id="10" name="Text 8"/>
          <p:cNvSpPr txBox="1"/>
          <p:nvPr/>
        </p:nvSpPr>
        <p:spPr>
          <a:xfrm>
            <a:off x="822960" y="4572000"/>
            <a:ext cx="2971800" cy="1005840"/>
          </a:xfrm>
          <a:prstGeom prst="rect">
            <a:avLst/>
          </a:prstGeom>
          <a:noFill/>
          <a:ln/>
        </p:spPr>
        <p:txBody>
          <a:bodyPr wrap="square" lIns="0" tIns="0" rIns="0" bIns="0" rtlCol="0" anchor="t"/>
          <a:lstStyle/>
          <a:p>
            <a:pPr indent="0" marL="0">
              <a:buNone/>
            </a:pPr>
            <a:r>
              <a:rPr lang="en-US" sz="1500" dirty="0">
                <a:solidFill>
                  <a:schemeClr val="tx1"/>
                </a:solidFill>
              </a:rPr>
              <a:t>Version deleted? Ship a revert as a hotfix.</a:t>
            </a:r>
            <a:endParaRPr lang="en-US" sz="1500" dirty="0"/>
          </a:p>
        </p:txBody>
      </p:sp>
      <p:sp>
        <p:nvSpPr>
          <p:cNvPr id="11" name="rollback Schema"/>
          <p:cNvSpPr/>
          <p:nvPr/>
        </p:nvSpPr>
        <p:spPr>
          <a:xfrm>
            <a:off x="4334256" y="1417320"/>
            <a:ext cx="3520440" cy="4343400"/>
          </a:xfrm>
          <a:prstGeom prst="roundRect">
            <a:avLst>
              <a:gd name="adj" fmla="val 2078"/>
            </a:avLst>
          </a:prstGeom>
          <a:solidFill>
            <a:schemeClr val="bg2"/>
          </a:solidFill>
          <a:ln w="12700">
            <a:solidFill>
              <a:schemeClr val="bg2"/>
            </a:solidFill>
            <a:prstDash val="solid"/>
          </a:ln>
        </p:spPr>
      </p:sp>
      <p:sp>
        <p:nvSpPr>
          <p:cNvPr id="12" name="tag Judgment call"/>
          <p:cNvSpPr/>
          <p:nvPr/>
        </p:nvSpPr>
        <p:spPr>
          <a:xfrm>
            <a:off x="4608576" y="1645920"/>
            <a:ext cx="1737360" cy="384048"/>
          </a:xfrm>
          <a:prstGeom prst="roundRect">
            <a:avLst>
              <a:gd name="adj" fmla="val 47619"/>
            </a:avLst>
          </a:prstGeom>
          <a:solidFill>
            <a:schemeClr val="accent3"/>
          </a:solidFill>
          <a:ln w="12700">
            <a:solidFill>
              <a:schemeClr val="accent3"/>
            </a:solidFill>
            <a:prstDash val="solid"/>
          </a:ln>
        </p:spPr>
      </p:sp>
      <p:sp>
        <p:nvSpPr>
          <p:cNvPr id="13" name="Text 11"/>
          <p:cNvSpPr txBox="1"/>
          <p:nvPr/>
        </p:nvSpPr>
        <p:spPr>
          <a:xfrm>
            <a:off x="4608576" y="1645920"/>
            <a:ext cx="1737360" cy="384048"/>
          </a:xfrm>
          <a:prstGeom prst="rect">
            <a:avLst/>
          </a:prstGeom>
          <a:noFill/>
          <a:ln/>
        </p:spPr>
        <p:txBody>
          <a:bodyPr wrap="square" lIns="0" tIns="0" rIns="0" bIns="0" rtlCol="0" anchor="ctr"/>
          <a:lstStyle/>
          <a:p>
            <a:pPr algn="ctr" indent="0" marL="0">
              <a:buNone/>
            </a:pPr>
            <a:r>
              <a:rPr lang="en-US" sz="1300" b="1" dirty="0">
                <a:solidFill>
                  <a:schemeClr val="bg1"/>
                </a:solidFill>
              </a:rPr>
              <a:t>Judgment call</a:t>
            </a:r>
            <a:endParaRPr lang="en-US" sz="1300" dirty="0"/>
          </a:p>
        </p:txBody>
      </p:sp>
      <p:sp>
        <p:nvSpPr>
          <p:cNvPr id="14" name="Text 12"/>
          <p:cNvSpPr txBox="1"/>
          <p:nvPr/>
        </p:nvSpPr>
        <p:spPr>
          <a:xfrm>
            <a:off x="4608576" y="2194560"/>
            <a:ext cx="2971800" cy="502920"/>
          </a:xfrm>
          <a:prstGeom prst="rect">
            <a:avLst/>
          </a:prstGeom>
          <a:noFill/>
          <a:ln/>
        </p:spPr>
        <p:txBody>
          <a:bodyPr wrap="square" lIns="0" tIns="0" rIns="0" bIns="0" rtlCol="0" anchor="ctr"/>
          <a:lstStyle/>
          <a:p>
            <a:pPr indent="0" marL="0">
              <a:buNone/>
            </a:pPr>
            <a:r>
              <a:rPr lang="en-US" sz="2200" b="1" dirty="0">
                <a:solidFill>
                  <a:schemeClr val="tx2"/>
                </a:solidFill>
              </a:rPr>
              <a:t>Schema</a:t>
            </a:r>
            <a:endParaRPr lang="en-US" sz="2200" dirty="0"/>
          </a:p>
        </p:txBody>
      </p:sp>
      <p:sp>
        <p:nvSpPr>
          <p:cNvPr id="15" name="Text 13"/>
          <p:cNvSpPr txBox="1"/>
          <p:nvPr/>
        </p:nvSpPr>
        <p:spPr>
          <a:xfrm>
            <a:off x="4608576" y="2788920"/>
            <a:ext cx="2971800" cy="685800"/>
          </a:xfrm>
          <a:prstGeom prst="rect">
            <a:avLst/>
          </a:prstGeom>
          <a:noFill/>
          <a:ln/>
        </p:spPr>
        <p:txBody>
          <a:bodyPr wrap="square" lIns="0" tIns="0" rIns="0" bIns="0" rtlCol="0" anchor="t"/>
          <a:lstStyle/>
          <a:p>
            <a:pPr indent="0" marL="0">
              <a:buNone/>
            </a:pPr>
            <a:r>
              <a:rPr lang="en-US" sz="1500" dirty="0">
                <a:solidFill>
                  <a:schemeClr val="tx1"/>
                </a:solidFill>
              </a:rPr>
              <a:t>Stays applied after a traffic switch.</a:t>
            </a:r>
            <a:endParaRPr lang="en-US" sz="1500" dirty="0"/>
          </a:p>
        </p:txBody>
      </p:sp>
      <p:sp>
        <p:nvSpPr>
          <p:cNvPr id="16" name="Text 14"/>
          <p:cNvSpPr txBox="1"/>
          <p:nvPr/>
        </p:nvSpPr>
        <p:spPr>
          <a:xfrm>
            <a:off x="4608576" y="3520440"/>
            <a:ext cx="2971800" cy="1005840"/>
          </a:xfrm>
          <a:prstGeom prst="rect">
            <a:avLst/>
          </a:prstGeom>
          <a:noFill/>
          <a:ln/>
        </p:spPr>
        <p:txBody>
          <a:bodyPr wrap="square" lIns="0" tIns="0" rIns="0" bIns="0" rtlCol="0" anchor="t"/>
          <a:lstStyle/>
          <a:p>
            <a:pPr indent="0" marL="0">
              <a:buNone/>
            </a:pPr>
            <a:r>
              <a:rPr lang="en-US" sz="1500" dirty="0">
                <a:solidFill>
                  <a:schemeClr val="tx1"/>
                </a:solidFill>
              </a:rPr>
              <a:t>Downgrade only if old code can't read it and the rollback must persist.</a:t>
            </a:r>
            <a:endParaRPr lang="en-US" sz="1500" dirty="0"/>
          </a:p>
        </p:txBody>
      </p:sp>
      <p:sp>
        <p:nvSpPr>
          <p:cNvPr id="17" name="rollback Data migrations"/>
          <p:cNvSpPr/>
          <p:nvPr/>
        </p:nvSpPr>
        <p:spPr>
          <a:xfrm>
            <a:off x="8119872" y="1417320"/>
            <a:ext cx="3520440" cy="4343400"/>
          </a:xfrm>
          <a:prstGeom prst="roundRect">
            <a:avLst>
              <a:gd name="adj" fmla="val 2078"/>
            </a:avLst>
          </a:prstGeom>
          <a:solidFill>
            <a:schemeClr val="bg2"/>
          </a:solidFill>
          <a:ln w="12700">
            <a:solidFill>
              <a:schemeClr val="bg2"/>
            </a:solidFill>
            <a:prstDash val="solid"/>
          </a:ln>
        </p:spPr>
      </p:sp>
      <p:sp>
        <p:nvSpPr>
          <p:cNvPr id="18" name="tag Backup only"/>
          <p:cNvSpPr/>
          <p:nvPr/>
        </p:nvSpPr>
        <p:spPr>
          <a:xfrm>
            <a:off x="8394192" y="1645920"/>
            <a:ext cx="1737360" cy="384048"/>
          </a:xfrm>
          <a:prstGeom prst="roundRect">
            <a:avLst>
              <a:gd name="adj" fmla="val 47619"/>
            </a:avLst>
          </a:prstGeom>
          <a:solidFill>
            <a:schemeClr val="accent2"/>
          </a:solidFill>
          <a:ln w="12700">
            <a:solidFill>
              <a:schemeClr val="accent2"/>
            </a:solidFill>
            <a:prstDash val="solid"/>
          </a:ln>
        </p:spPr>
      </p:sp>
      <p:sp>
        <p:nvSpPr>
          <p:cNvPr id="19" name="Text 17"/>
          <p:cNvSpPr txBox="1"/>
          <p:nvPr/>
        </p:nvSpPr>
        <p:spPr>
          <a:xfrm>
            <a:off x="8394192" y="1645920"/>
            <a:ext cx="1737360" cy="384048"/>
          </a:xfrm>
          <a:prstGeom prst="rect">
            <a:avLst/>
          </a:prstGeom>
          <a:noFill/>
          <a:ln/>
        </p:spPr>
        <p:txBody>
          <a:bodyPr wrap="square" lIns="0" tIns="0" rIns="0" bIns="0" rtlCol="0" anchor="ctr"/>
          <a:lstStyle/>
          <a:p>
            <a:pPr algn="ctr" indent="0" marL="0">
              <a:buNone/>
            </a:pPr>
            <a:r>
              <a:rPr lang="en-US" sz="1300" b="1" dirty="0">
                <a:solidFill>
                  <a:schemeClr val="bg1"/>
                </a:solidFill>
              </a:rPr>
              <a:t>Backup only</a:t>
            </a:r>
            <a:endParaRPr lang="en-US" sz="1300" dirty="0"/>
          </a:p>
        </p:txBody>
      </p:sp>
      <p:sp>
        <p:nvSpPr>
          <p:cNvPr id="20" name="Text 18"/>
          <p:cNvSpPr txBox="1"/>
          <p:nvPr/>
        </p:nvSpPr>
        <p:spPr>
          <a:xfrm>
            <a:off x="8394192" y="2194560"/>
            <a:ext cx="2971800" cy="502920"/>
          </a:xfrm>
          <a:prstGeom prst="rect">
            <a:avLst/>
          </a:prstGeom>
          <a:noFill/>
          <a:ln/>
        </p:spPr>
        <p:txBody>
          <a:bodyPr wrap="square" lIns="0" tIns="0" rIns="0" bIns="0" rtlCol="0" anchor="ctr"/>
          <a:lstStyle/>
          <a:p>
            <a:pPr indent="0" marL="0">
              <a:buNone/>
            </a:pPr>
            <a:r>
              <a:rPr lang="en-US" sz="2200" b="1" dirty="0">
                <a:solidFill>
                  <a:schemeClr val="tx2"/>
                </a:solidFill>
              </a:rPr>
              <a:t>Data migrations</a:t>
            </a:r>
            <a:endParaRPr lang="en-US" sz="2200" dirty="0"/>
          </a:p>
        </p:txBody>
      </p:sp>
      <p:sp>
        <p:nvSpPr>
          <p:cNvPr id="21" name="Text 19"/>
          <p:cNvSpPr txBox="1"/>
          <p:nvPr/>
        </p:nvSpPr>
        <p:spPr>
          <a:xfrm>
            <a:off x="8394192" y="2788920"/>
            <a:ext cx="2971800" cy="685800"/>
          </a:xfrm>
          <a:prstGeom prst="rect">
            <a:avLst/>
          </a:prstGeom>
          <a:noFill/>
          <a:ln/>
        </p:spPr>
        <p:txBody>
          <a:bodyPr wrap="square" lIns="0" tIns="0" rIns="0" bIns="0" rtlCol="0" anchor="t"/>
          <a:lstStyle/>
          <a:p>
            <a:pPr indent="0" marL="0">
              <a:buNone/>
            </a:pPr>
            <a:r>
              <a:rPr lang="en-US" sz="1500" dirty="0">
                <a:solidFill>
                  <a:schemeClr val="tx1"/>
                </a:solidFill>
              </a:rPr>
              <a:t>No downgrade exists.</a:t>
            </a:r>
            <a:endParaRPr lang="en-US" sz="1500" dirty="0"/>
          </a:p>
        </p:txBody>
      </p:sp>
      <p:sp>
        <p:nvSpPr>
          <p:cNvPr id="22" name="Text 20"/>
          <p:cNvSpPr txBox="1"/>
          <p:nvPr/>
        </p:nvSpPr>
        <p:spPr>
          <a:xfrm>
            <a:off x="8394192" y="3520440"/>
            <a:ext cx="2971800" cy="1005840"/>
          </a:xfrm>
          <a:prstGeom prst="rect">
            <a:avLst/>
          </a:prstGeom>
          <a:noFill/>
          <a:ln/>
        </p:spPr>
        <p:txBody>
          <a:bodyPr wrap="square" lIns="0" tIns="0" rIns="0" bIns="0" rtlCol="0" anchor="t"/>
          <a:lstStyle/>
          <a:p>
            <a:pPr indent="0" marL="0">
              <a:buNone/>
            </a:pPr>
            <a:r>
              <a:rPr lang="en-US" sz="1500" dirty="0">
                <a:solidFill>
                  <a:schemeClr val="tx1"/>
                </a:solidFill>
              </a:rPr>
              <a:t>Restore the pre-release Cloud SQL backup. No backup, no way back.</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Hotfix</a:t>
            </a:r>
            <a:endParaRPr lang="en-US" sz="3600" dirty="0"/>
          </a:p>
        </p:txBody>
      </p:sp>
      <p:sp>
        <p:nvSpPr>
          <p:cNvPr id="3" name="hotfix line"/>
          <p:cNvSpPr/>
          <p:nvPr/>
        </p:nvSpPr>
        <p:spPr>
          <a:xfrm>
            <a:off x="1645920" y="2377440"/>
            <a:ext cx="8961120" cy="0"/>
          </a:xfrm>
          <a:prstGeom prst="line">
            <a:avLst/>
          </a:prstGeom>
          <a:noFill/>
          <a:ln w="25400">
            <a:solidFill>
              <a:schemeClr val="accent4"/>
            </a:solidFill>
            <a:prstDash val="solid"/>
          </a:ln>
        </p:spPr>
      </p:sp>
      <p:sp>
        <p:nvSpPr>
          <p:cNvPr id="4" name="step 1"/>
          <p:cNvSpPr/>
          <p:nvPr/>
        </p:nvSpPr>
        <p:spPr>
          <a:xfrm>
            <a:off x="1371600" y="2103120"/>
            <a:ext cx="548640" cy="548640"/>
          </a:xfrm>
          <a:prstGeom prst="ellipse">
            <a:avLst/>
          </a:prstGeom>
          <a:solidFill>
            <a:schemeClr val="accent1"/>
          </a:solidFill>
          <a:ln w="12700">
            <a:solidFill>
              <a:schemeClr val="accent1"/>
            </a:solidFill>
            <a:prstDash val="solid"/>
          </a:ln>
        </p:spPr>
      </p:sp>
      <p:sp>
        <p:nvSpPr>
          <p:cNvPr id="5" name="step 1 number"/>
          <p:cNvSpPr txBox="1"/>
          <p:nvPr/>
        </p:nvSpPr>
        <p:spPr>
          <a:xfrm>
            <a:off x="1371600" y="21031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594360" y="2880360"/>
            <a:ext cx="2103120" cy="685800"/>
          </a:xfrm>
          <a:prstGeom prst="rect">
            <a:avLst/>
          </a:prstGeom>
          <a:noFill/>
          <a:ln/>
        </p:spPr>
        <p:txBody>
          <a:bodyPr wrap="square" lIns="0" tIns="0" rIns="0" bIns="0" rtlCol="0" anchor="t"/>
          <a:lstStyle/>
          <a:p>
            <a:pPr algn="ctr" indent="0" marL="0">
              <a:buNone/>
            </a:pPr>
            <a:r>
              <a:rPr lang="en-US" sz="1700" b="1" dirty="0">
                <a:solidFill>
                  <a:schemeClr val="tx2"/>
                </a:solidFill>
              </a:rPr>
              <a:t>Run hotfix-start</a:t>
            </a:r>
            <a:endParaRPr lang="en-US" sz="1700" dirty="0"/>
          </a:p>
        </p:txBody>
      </p:sp>
      <p:sp>
        <p:nvSpPr>
          <p:cNvPr id="7" name="Text 5"/>
          <p:cNvSpPr txBox="1"/>
          <p:nvPr/>
        </p:nvSpPr>
        <p:spPr>
          <a:xfrm>
            <a:off x="594360" y="3611880"/>
            <a:ext cx="2103120" cy="1371600"/>
          </a:xfrm>
          <a:prstGeom prst="rect">
            <a:avLst/>
          </a:prstGeom>
          <a:noFill/>
          <a:ln/>
        </p:spPr>
        <p:txBody>
          <a:bodyPr wrap="square" lIns="0" tIns="0" rIns="0" bIns="0" rtlCol="0" anchor="t"/>
          <a:lstStyle/>
          <a:p>
            <a:pPr algn="ctr" indent="0" marL="0">
              <a:buNone/>
            </a:pPr>
            <a:r>
              <a:rPr lang="en-US" sz="1500" dirty="0">
                <a:solidFill>
                  <a:schemeClr val="tx1"/>
                </a:solidFill>
              </a:rPr>
              <a:t>Creates hotfix/vX.Y.(Z+1) off the release tag</a:t>
            </a:r>
            <a:endParaRPr lang="en-US" sz="1500" dirty="0"/>
          </a:p>
        </p:txBody>
      </p:sp>
      <p:sp>
        <p:nvSpPr>
          <p:cNvPr id="8" name="step 2"/>
          <p:cNvSpPr/>
          <p:nvPr/>
        </p:nvSpPr>
        <p:spPr>
          <a:xfrm>
            <a:off x="3611880" y="2103120"/>
            <a:ext cx="548640" cy="548640"/>
          </a:xfrm>
          <a:prstGeom prst="ellipse">
            <a:avLst/>
          </a:prstGeom>
          <a:solidFill>
            <a:schemeClr val="accent1"/>
          </a:solidFill>
          <a:ln w="12700">
            <a:solidFill>
              <a:schemeClr val="accent1"/>
            </a:solidFill>
            <a:prstDash val="solid"/>
          </a:ln>
        </p:spPr>
      </p:sp>
      <p:sp>
        <p:nvSpPr>
          <p:cNvPr id="9" name="step 2 number"/>
          <p:cNvSpPr txBox="1"/>
          <p:nvPr/>
        </p:nvSpPr>
        <p:spPr>
          <a:xfrm>
            <a:off x="3611880" y="21031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2834640" y="2880360"/>
            <a:ext cx="2103120" cy="685800"/>
          </a:xfrm>
          <a:prstGeom prst="rect">
            <a:avLst/>
          </a:prstGeom>
          <a:noFill/>
          <a:ln/>
        </p:spPr>
        <p:txBody>
          <a:bodyPr wrap="square" lIns="0" tIns="0" rIns="0" bIns="0" rtlCol="0" anchor="t"/>
          <a:lstStyle/>
          <a:p>
            <a:pPr algn="ctr" indent="0" marL="0">
              <a:buNone/>
            </a:pPr>
            <a:r>
              <a:rPr lang="en-US" sz="1700" b="1" dirty="0">
                <a:solidFill>
                  <a:schemeClr val="tx2"/>
                </a:solidFill>
              </a:rPr>
              <a:t>fix: PR into hotfix branch</a:t>
            </a:r>
            <a:endParaRPr lang="en-US" sz="1700" dirty="0"/>
          </a:p>
        </p:txBody>
      </p:sp>
      <p:sp>
        <p:nvSpPr>
          <p:cNvPr id="11" name="Text 9"/>
          <p:cNvSpPr txBox="1"/>
          <p:nvPr/>
        </p:nvSpPr>
        <p:spPr>
          <a:xfrm>
            <a:off x="2834640" y="3611880"/>
            <a:ext cx="2103120" cy="1371600"/>
          </a:xfrm>
          <a:prstGeom prst="rect">
            <a:avLst/>
          </a:prstGeom>
          <a:noFill/>
          <a:ln/>
        </p:spPr>
        <p:txBody>
          <a:bodyPr wrap="square" lIns="0" tIns="0" rIns="0" bIns="0" rtlCol="0" anchor="t"/>
          <a:lstStyle/>
          <a:p>
            <a:pPr algn="ctr" indent="0" marL="0">
              <a:buNone/>
            </a:pPr>
            <a:r>
              <a:rPr lang="en-US" sz="1500" dirty="0">
                <a:solidFill>
                  <a:schemeClr val="tx1"/>
                </a:solidFill>
              </a:rPr>
              <a:t>Merge it</a:t>
            </a:r>
            <a:endParaRPr lang="en-US" sz="1500" dirty="0"/>
          </a:p>
        </p:txBody>
      </p:sp>
      <p:sp>
        <p:nvSpPr>
          <p:cNvPr id="12" name="step 3"/>
          <p:cNvSpPr/>
          <p:nvPr/>
        </p:nvSpPr>
        <p:spPr>
          <a:xfrm>
            <a:off x="5852160" y="2103120"/>
            <a:ext cx="548640" cy="548640"/>
          </a:xfrm>
          <a:prstGeom prst="ellipse">
            <a:avLst/>
          </a:prstGeom>
          <a:solidFill>
            <a:schemeClr val="accent1"/>
          </a:solidFill>
          <a:ln w="12700">
            <a:solidFill>
              <a:schemeClr val="accent1"/>
            </a:solidFill>
            <a:prstDash val="solid"/>
          </a:ln>
        </p:spPr>
      </p:sp>
      <p:sp>
        <p:nvSpPr>
          <p:cNvPr id="13" name="step 3 number"/>
          <p:cNvSpPr txBox="1"/>
          <p:nvPr/>
        </p:nvSpPr>
        <p:spPr>
          <a:xfrm>
            <a:off x="5852160" y="21031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2"/>
          <p:cNvSpPr txBox="1"/>
          <p:nvPr/>
        </p:nvSpPr>
        <p:spPr>
          <a:xfrm>
            <a:off x="5074920" y="2880360"/>
            <a:ext cx="2103120" cy="685800"/>
          </a:xfrm>
          <a:prstGeom prst="rect">
            <a:avLst/>
          </a:prstGeom>
          <a:noFill/>
          <a:ln/>
        </p:spPr>
        <p:txBody>
          <a:bodyPr wrap="square" lIns="0" tIns="0" rIns="0" bIns="0" rtlCol="0" anchor="t"/>
          <a:lstStyle/>
          <a:p>
            <a:pPr algn="ctr" indent="0" marL="0">
              <a:buNone/>
            </a:pPr>
            <a:r>
              <a:rPr lang="en-US" sz="1700" b="1" dirty="0">
                <a:solidFill>
                  <a:schemeClr val="tx2"/>
                </a:solidFill>
              </a:rPr>
              <a:t>Tag + deploy</a:t>
            </a:r>
            <a:endParaRPr lang="en-US" sz="1700" dirty="0"/>
          </a:p>
        </p:txBody>
      </p:sp>
      <p:sp>
        <p:nvSpPr>
          <p:cNvPr id="15" name="Text 13"/>
          <p:cNvSpPr txBox="1"/>
          <p:nvPr/>
        </p:nvSpPr>
        <p:spPr>
          <a:xfrm>
            <a:off x="5074920" y="3611880"/>
            <a:ext cx="2103120" cy="1371600"/>
          </a:xfrm>
          <a:prstGeom prst="rect">
            <a:avLst/>
          </a:prstGeom>
          <a:noFill/>
          <a:ln/>
        </p:spPr>
        <p:txBody>
          <a:bodyPr wrap="square" lIns="0" tIns="0" rIns="0" bIns="0" rtlCol="0" anchor="t"/>
          <a:lstStyle/>
          <a:p>
            <a:pPr algn="ctr" indent="0" marL="0">
              <a:buNone/>
            </a:pPr>
            <a:r>
              <a:rPr lang="en-US" sz="1500" dirty="0">
                <a:solidFill>
                  <a:schemeClr val="tx1"/>
                </a:solidFill>
              </a:rPr>
              <a:t>release-please cuts the patch tag; same approval gate</a:t>
            </a:r>
            <a:endParaRPr lang="en-US" sz="1500" dirty="0"/>
          </a:p>
        </p:txBody>
      </p:sp>
      <p:sp>
        <p:nvSpPr>
          <p:cNvPr id="16" name="step 4"/>
          <p:cNvSpPr/>
          <p:nvPr/>
        </p:nvSpPr>
        <p:spPr>
          <a:xfrm>
            <a:off x="8092440" y="2103120"/>
            <a:ext cx="548640" cy="548640"/>
          </a:xfrm>
          <a:prstGeom prst="ellipse">
            <a:avLst/>
          </a:prstGeom>
          <a:solidFill>
            <a:schemeClr val="accent1"/>
          </a:solidFill>
          <a:ln w="12700">
            <a:solidFill>
              <a:schemeClr val="accent1"/>
            </a:solidFill>
            <a:prstDash val="solid"/>
          </a:ln>
        </p:spPr>
      </p:sp>
      <p:sp>
        <p:nvSpPr>
          <p:cNvPr id="17" name="step 4 number"/>
          <p:cNvSpPr txBox="1"/>
          <p:nvPr/>
        </p:nvSpPr>
        <p:spPr>
          <a:xfrm>
            <a:off x="8092440" y="21031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6"/>
          <p:cNvSpPr txBox="1"/>
          <p:nvPr/>
        </p:nvSpPr>
        <p:spPr>
          <a:xfrm>
            <a:off x="7315200" y="2880360"/>
            <a:ext cx="2103120" cy="685800"/>
          </a:xfrm>
          <a:prstGeom prst="rect">
            <a:avLst/>
          </a:prstGeom>
          <a:noFill/>
          <a:ln/>
        </p:spPr>
        <p:txBody>
          <a:bodyPr wrap="square" lIns="0" tIns="0" rIns="0" bIns="0" rtlCol="0" anchor="t"/>
          <a:lstStyle/>
          <a:p>
            <a:pPr algn="ctr" indent="0" marL="0">
              <a:buNone/>
            </a:pPr>
            <a:r>
              <a:rPr lang="en-US" sz="1700" b="1" dirty="0">
                <a:solidFill>
                  <a:schemeClr val="tx2"/>
                </a:solidFill>
              </a:rPr>
              <a:t>Merge into production</a:t>
            </a:r>
            <a:endParaRPr lang="en-US" sz="1700" dirty="0"/>
          </a:p>
        </p:txBody>
      </p:sp>
      <p:sp>
        <p:nvSpPr>
          <p:cNvPr id="19" name="Text 17"/>
          <p:cNvSpPr txBox="1"/>
          <p:nvPr/>
        </p:nvSpPr>
        <p:spPr>
          <a:xfrm>
            <a:off x="7315200" y="3611880"/>
            <a:ext cx="2103120" cy="1371600"/>
          </a:xfrm>
          <a:prstGeom prst="rect">
            <a:avLst/>
          </a:prstGeom>
          <a:noFill/>
          <a:ln/>
        </p:spPr>
        <p:txBody>
          <a:bodyPr wrap="square" lIns="0" tIns="0" rIns="0" bIns="0" rtlCol="0" anchor="t"/>
          <a:lstStyle/>
          <a:p>
            <a:pPr algn="ctr" indent="0" marL="0">
              <a:buNone/>
            </a:pPr>
            <a:r>
              <a:rPr lang="en-US" sz="1500" dirty="0">
                <a:solidFill>
                  <a:schemeClr val="tx1"/>
                </a:solidFill>
              </a:rPr>
              <a:t>Auto-opened PR hotfix → production</a:t>
            </a:r>
            <a:endParaRPr lang="en-US" sz="1500" dirty="0"/>
          </a:p>
        </p:txBody>
      </p:sp>
      <p:sp>
        <p:nvSpPr>
          <p:cNvPr id="20" name="step 5"/>
          <p:cNvSpPr/>
          <p:nvPr/>
        </p:nvSpPr>
        <p:spPr>
          <a:xfrm>
            <a:off x="10332720" y="2103120"/>
            <a:ext cx="548640" cy="548640"/>
          </a:xfrm>
          <a:prstGeom prst="ellipse">
            <a:avLst/>
          </a:prstGeom>
          <a:solidFill>
            <a:schemeClr val="accent2"/>
          </a:solidFill>
          <a:ln w="12700">
            <a:solidFill>
              <a:schemeClr val="accent2"/>
            </a:solidFill>
            <a:prstDash val="solid"/>
          </a:ln>
        </p:spPr>
      </p:sp>
      <p:sp>
        <p:nvSpPr>
          <p:cNvPr id="21" name="step 5 number"/>
          <p:cNvSpPr txBox="1"/>
          <p:nvPr/>
        </p:nvSpPr>
        <p:spPr>
          <a:xfrm>
            <a:off x="10332720" y="21031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2" name="Text 20"/>
          <p:cNvSpPr txBox="1"/>
          <p:nvPr/>
        </p:nvSpPr>
        <p:spPr>
          <a:xfrm>
            <a:off x="9555480" y="2880360"/>
            <a:ext cx="2103120" cy="685800"/>
          </a:xfrm>
          <a:prstGeom prst="rect">
            <a:avLst/>
          </a:prstGeom>
          <a:noFill/>
          <a:ln/>
        </p:spPr>
        <p:txBody>
          <a:bodyPr wrap="square" lIns="0" tIns="0" rIns="0" bIns="0" rtlCol="0" anchor="t"/>
          <a:lstStyle/>
          <a:p>
            <a:pPr algn="ctr" indent="0" marL="0">
              <a:buNone/>
            </a:pPr>
            <a:r>
              <a:rPr lang="en-US" sz="1700" b="1" dirty="0">
                <a:solidFill>
                  <a:schemeClr val="accent2"/>
                </a:solidFill>
              </a:rPr>
              <a:t>Forward-merge by hand</a:t>
            </a:r>
            <a:endParaRPr lang="en-US" sz="1700" dirty="0"/>
          </a:p>
        </p:txBody>
      </p:sp>
      <p:sp>
        <p:nvSpPr>
          <p:cNvPr id="23" name="Text 21"/>
          <p:cNvSpPr txBox="1"/>
          <p:nvPr/>
        </p:nvSpPr>
        <p:spPr>
          <a:xfrm>
            <a:off x="9555480" y="3611880"/>
            <a:ext cx="2103120" cy="1371600"/>
          </a:xfrm>
          <a:prstGeom prst="rect">
            <a:avLst/>
          </a:prstGeom>
          <a:noFill/>
          <a:ln/>
        </p:spPr>
        <p:txBody>
          <a:bodyPr wrap="square" lIns="0" tIns="0" rIns="0" bIns="0" rtlCol="0" anchor="t"/>
          <a:lstStyle/>
          <a:p>
            <a:pPr algn="ctr" indent="0" marL="0">
              <a:buNone/>
            </a:pPr>
            <a:r>
              <a:rPr lang="en-US" sz="1500" dirty="0">
                <a:solidFill>
                  <a:schemeClr val="tx1"/>
                </a:solidFill>
              </a:rPr>
              <a:t>Run forward-merge from production. Nothing does it for you.</a:t>
            </a:r>
            <a:endParaRPr lang="en-US" sz="1500" dirty="0"/>
          </a:p>
        </p:txBody>
      </p:sp>
      <p:sp>
        <p:nvSpPr>
          <p:cNvPr id="24" name="hotfix callout"/>
          <p:cNvSpPr/>
          <p:nvPr/>
        </p:nvSpPr>
        <p:spPr>
          <a:xfrm>
            <a:off x="548640" y="5257800"/>
            <a:ext cx="11064240" cy="685800"/>
          </a:xfrm>
          <a:prstGeom prst="roundRect">
            <a:avLst>
              <a:gd name="adj" fmla="val 10667"/>
            </a:avLst>
          </a:prstGeom>
          <a:solidFill>
            <a:schemeClr val="accent5"/>
          </a:solidFill>
          <a:ln w="12700">
            <a:solidFill>
              <a:schemeClr val="accent5"/>
            </a:solidFill>
            <a:prstDash val="solid"/>
          </a:ln>
        </p:spPr>
      </p:sp>
      <p:sp>
        <p:nvSpPr>
          <p:cNvPr id="25" name="hotfix warn"/>
          <p:cNvSpPr/>
          <p:nvPr/>
        </p:nvSpPr>
        <p:spPr>
          <a:xfrm>
            <a:off x="731520" y="5376672"/>
            <a:ext cx="438912" cy="438912"/>
          </a:xfrm>
          <a:prstGeom prst="ellipse">
            <a:avLst/>
          </a:prstGeom>
          <a:solidFill>
            <a:schemeClr val="accent2"/>
          </a:solidFill>
          <a:ln w="12700">
            <a:solidFill>
              <a:schemeClr val="accent2"/>
            </a:solidFill>
            <a:prstDash val="solid"/>
          </a:ln>
        </p:spPr>
      </p:sp>
      <p:sp>
        <p:nvSpPr>
          <p:cNvPr id="26" name="hotfix warn mark"/>
          <p:cNvSpPr txBox="1"/>
          <p:nvPr/>
        </p:nvSpPr>
        <p:spPr>
          <a:xfrm>
            <a:off x="731520" y="5376672"/>
            <a:ext cx="438912" cy="438912"/>
          </a:xfrm>
          <a:prstGeom prst="rect">
            <a:avLst/>
          </a:prstGeom>
          <a:noFill/>
          <a:ln/>
        </p:spPr>
        <p:txBody>
          <a:bodyPr wrap="square" lIns="0" tIns="0" rIns="0" bIns="0" rtlCol="0" anchor="ctr"/>
          <a:lstStyle/>
          <a:p>
            <a:pPr algn="ctr" indent="0" marL="0">
              <a:buNone/>
            </a:pPr>
            <a:r>
              <a:rPr lang="en-US" sz="1900" b="1" dirty="0">
                <a:solidFill>
                  <a:schemeClr val="bg1"/>
                </a:solidFill>
              </a:rPr>
              <a:t>!</a:t>
            </a:r>
            <a:endParaRPr lang="en-US" sz="1900" dirty="0"/>
          </a:p>
        </p:txBody>
      </p:sp>
      <p:sp>
        <p:nvSpPr>
          <p:cNvPr id="27" name="Text 25"/>
          <p:cNvSpPr txBox="1"/>
          <p:nvPr/>
        </p:nvSpPr>
        <p:spPr>
          <a:xfrm>
            <a:off x="1371600" y="5257800"/>
            <a:ext cx="10058400" cy="685800"/>
          </a:xfrm>
          <a:prstGeom prst="rect">
            <a:avLst/>
          </a:prstGeom>
          <a:noFill/>
          <a:ln/>
        </p:spPr>
        <p:txBody>
          <a:bodyPr wrap="square" lIns="0" tIns="0" rIns="0" bIns="0" rtlCol="0" anchor="ctr"/>
          <a:lstStyle/>
          <a:p>
            <a:pPr indent="0" marL="0">
              <a:buNone/>
            </a:pPr>
            <a:r>
              <a:rPr lang="en-US" sz="1700" b="1" dirty="0">
                <a:solidFill>
                  <a:schemeClr val="tx1"/>
                </a:solidFill>
              </a:rPr>
              <a:t>Skip step 5 and staging no longer contains the fix. The next promotion can ship the bug again.</a:t>
            </a:r>
            <a:endParaRPr lang="en-US" sz="17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548640"/>
            <a:ext cx="10698480" cy="822960"/>
          </a:xfrm>
          <a:prstGeom prst="rect">
            <a:avLst/>
          </a:prstGeom>
          <a:noFill/>
          <a:ln/>
        </p:spPr>
        <p:txBody>
          <a:bodyPr wrap="square" lIns="0" tIns="0" rIns="0" bIns="0" rtlCol="0" anchor="ctr"/>
          <a:lstStyle/>
          <a:p>
            <a:pPr indent="0" marL="0">
              <a:buNone/>
            </a:pPr>
            <a:r>
              <a:rPr lang="en-US" sz="3600" b="1" dirty="0">
                <a:solidFill>
                  <a:schemeClr val="bg1"/>
                </a:solidFill>
              </a:rPr>
              <a:t>Before you merge the promotion PR</a:t>
            </a:r>
            <a:endParaRPr lang="en-US" sz="3600" dirty="0"/>
          </a:p>
        </p:txBody>
      </p:sp>
      <p:sp>
        <p:nvSpPr>
          <p:cNvPr id="3" name="checkbox 1"/>
          <p:cNvSpPr/>
          <p:nvPr/>
        </p:nvSpPr>
        <p:spPr>
          <a:xfrm>
            <a:off x="731520" y="1847088"/>
            <a:ext cx="365760" cy="365760"/>
          </a:xfrm>
          <a:prstGeom prst="roundRect">
            <a:avLst>
              <a:gd name="adj" fmla="val 12500"/>
            </a:avLst>
          </a:prstGeom>
          <a:solidFill>
            <a:schemeClr val="tx2"/>
          </a:solidFill>
          <a:ln w="19050">
            <a:solidFill>
              <a:srgbClr val="C9D6D1"/>
            </a:solidFill>
            <a:prstDash val="solid"/>
          </a:ln>
        </p:spPr>
      </p:sp>
      <p:sp>
        <p:nvSpPr>
          <p:cNvPr id="4" name="Text 2"/>
          <p:cNvSpPr txBox="1"/>
          <p:nvPr/>
        </p:nvSpPr>
        <p:spPr>
          <a:xfrm>
            <a:off x="1371600" y="1783080"/>
            <a:ext cx="10058400" cy="502920"/>
          </a:xfrm>
          <a:prstGeom prst="rect">
            <a:avLst/>
          </a:prstGeom>
          <a:noFill/>
          <a:ln/>
        </p:spPr>
        <p:txBody>
          <a:bodyPr wrap="square" lIns="0" tIns="0" rIns="0" bIns="0" rtlCol="0" anchor="ctr"/>
          <a:lstStyle/>
          <a:p>
            <a:pPr indent="0" marL="0">
              <a:buNone/>
            </a:pPr>
            <a:r>
              <a:rPr lang="en-US" sz="2000" dirty="0">
                <a:solidFill>
                  <a:schemeClr val="bg1"/>
                </a:solidFill>
              </a:rPr>
              <a:t>CI and the staging smoke test are green on the commit you're shipping</a:t>
            </a:r>
            <a:endParaRPr lang="en-US" sz="2000" dirty="0"/>
          </a:p>
        </p:txBody>
      </p:sp>
      <p:sp>
        <p:nvSpPr>
          <p:cNvPr id="5" name="checkbox 2"/>
          <p:cNvSpPr/>
          <p:nvPr/>
        </p:nvSpPr>
        <p:spPr>
          <a:xfrm>
            <a:off x="731520" y="2532888"/>
            <a:ext cx="365760" cy="365760"/>
          </a:xfrm>
          <a:prstGeom prst="roundRect">
            <a:avLst>
              <a:gd name="adj" fmla="val 12500"/>
            </a:avLst>
          </a:prstGeom>
          <a:solidFill>
            <a:schemeClr val="tx2"/>
          </a:solidFill>
          <a:ln w="19050">
            <a:solidFill>
              <a:srgbClr val="C9D6D1"/>
            </a:solidFill>
            <a:prstDash val="solid"/>
          </a:ln>
        </p:spPr>
      </p:sp>
      <p:sp>
        <p:nvSpPr>
          <p:cNvPr id="6" name="Text 4"/>
          <p:cNvSpPr txBox="1"/>
          <p:nvPr/>
        </p:nvSpPr>
        <p:spPr>
          <a:xfrm>
            <a:off x="1371600" y="2468880"/>
            <a:ext cx="10058400" cy="502920"/>
          </a:xfrm>
          <a:prstGeom prst="rect">
            <a:avLst/>
          </a:prstGeom>
          <a:noFill/>
          <a:ln/>
        </p:spPr>
        <p:txBody>
          <a:bodyPr wrap="square" lIns="0" tIns="0" rIns="0" bIns="0" rtlCol="0" anchor="ctr"/>
          <a:lstStyle/>
          <a:p>
            <a:pPr indent="0" marL="0">
              <a:buNone/>
            </a:pPr>
            <a:r>
              <a:rPr lang="en-US" sz="2000" dirty="0">
                <a:solidFill>
                  <a:schemeClr val="bg1"/>
                </a:solidFill>
              </a:rPr>
              <a:t>Staging is frozen</a:t>
            </a:r>
            <a:endParaRPr lang="en-US" sz="2000" dirty="0"/>
          </a:p>
        </p:txBody>
      </p:sp>
      <p:sp>
        <p:nvSpPr>
          <p:cNvPr id="7" name="checkbox 3"/>
          <p:cNvSpPr/>
          <p:nvPr/>
        </p:nvSpPr>
        <p:spPr>
          <a:xfrm>
            <a:off x="731520" y="3218688"/>
            <a:ext cx="365760" cy="365760"/>
          </a:xfrm>
          <a:prstGeom prst="roundRect">
            <a:avLst>
              <a:gd name="adj" fmla="val 12500"/>
            </a:avLst>
          </a:prstGeom>
          <a:solidFill>
            <a:schemeClr val="tx2"/>
          </a:solidFill>
          <a:ln w="19050">
            <a:solidFill>
              <a:srgbClr val="C9D6D1"/>
            </a:solidFill>
            <a:prstDash val="solid"/>
          </a:ln>
        </p:spPr>
      </p:sp>
      <p:sp>
        <p:nvSpPr>
          <p:cNvPr id="8" name="Text 6"/>
          <p:cNvSpPr txBox="1"/>
          <p:nvPr/>
        </p:nvSpPr>
        <p:spPr>
          <a:xfrm>
            <a:off x="1371600" y="3154680"/>
            <a:ext cx="10058400" cy="502920"/>
          </a:xfrm>
          <a:prstGeom prst="rect">
            <a:avLst/>
          </a:prstGeom>
          <a:noFill/>
          <a:ln/>
        </p:spPr>
        <p:txBody>
          <a:bodyPr wrap="square" lIns="0" tIns="0" rIns="0" bIns="0" rtlCol="0" anchor="ctr"/>
          <a:lstStyle/>
          <a:p>
            <a:pPr indent="0" marL="0">
              <a:buNone/>
            </a:pPr>
            <a:r>
              <a:rPr lang="en-US" sz="2000" dirty="0">
                <a:solidFill>
                  <a:schemeClr val="bg1"/>
                </a:solidFill>
              </a:rPr>
              <a:t>Authentik, secrets and Cloud SQL prerequisites are in place</a:t>
            </a:r>
            <a:endParaRPr lang="en-US" sz="2000" dirty="0"/>
          </a:p>
        </p:txBody>
      </p:sp>
      <p:sp>
        <p:nvSpPr>
          <p:cNvPr id="9" name="checkbox 4"/>
          <p:cNvSpPr/>
          <p:nvPr/>
        </p:nvSpPr>
        <p:spPr>
          <a:xfrm>
            <a:off x="731520" y="3904488"/>
            <a:ext cx="365760" cy="365760"/>
          </a:xfrm>
          <a:prstGeom prst="roundRect">
            <a:avLst>
              <a:gd name="adj" fmla="val 12500"/>
            </a:avLst>
          </a:prstGeom>
          <a:solidFill>
            <a:schemeClr val="tx2"/>
          </a:solidFill>
          <a:ln w="19050">
            <a:solidFill>
              <a:srgbClr val="C9D6D1"/>
            </a:solidFill>
            <a:prstDash val="solid"/>
          </a:ln>
        </p:spPr>
      </p:sp>
      <p:sp>
        <p:nvSpPr>
          <p:cNvPr id="10" name="Text 8"/>
          <p:cNvSpPr txBox="1"/>
          <p:nvPr/>
        </p:nvSpPr>
        <p:spPr>
          <a:xfrm>
            <a:off x="1371600" y="3840480"/>
            <a:ext cx="10058400" cy="502920"/>
          </a:xfrm>
          <a:prstGeom prst="rect">
            <a:avLst/>
          </a:prstGeom>
          <a:noFill/>
          <a:ln/>
        </p:spPr>
        <p:txBody>
          <a:bodyPr wrap="square" lIns="0" tIns="0" rIns="0" bIns="0" rtlCol="0" anchor="ctr"/>
          <a:lstStyle/>
          <a:p>
            <a:pPr indent="0" marL="0">
              <a:buNone/>
            </a:pPr>
            <a:r>
              <a:rPr lang="en-US" sz="2000" dirty="0">
                <a:solidFill>
                  <a:schemeClr val="bg1"/>
                </a:solidFill>
              </a:rPr>
              <a:t>Cloud SQL backup taken if data migrations ship</a:t>
            </a:r>
            <a:endParaRPr lang="en-US" sz="2000" dirty="0"/>
          </a:p>
        </p:txBody>
      </p:sp>
      <p:sp>
        <p:nvSpPr>
          <p:cNvPr id="11" name="checkbox 5"/>
          <p:cNvSpPr/>
          <p:nvPr/>
        </p:nvSpPr>
        <p:spPr>
          <a:xfrm>
            <a:off x="731520" y="4590288"/>
            <a:ext cx="365760" cy="365760"/>
          </a:xfrm>
          <a:prstGeom prst="roundRect">
            <a:avLst>
              <a:gd name="adj" fmla="val 12500"/>
            </a:avLst>
          </a:prstGeom>
          <a:solidFill>
            <a:schemeClr val="tx2"/>
          </a:solidFill>
          <a:ln w="19050">
            <a:solidFill>
              <a:srgbClr val="C9D6D1"/>
            </a:solidFill>
            <a:prstDash val="solid"/>
          </a:ln>
        </p:spPr>
      </p:sp>
      <p:sp>
        <p:nvSpPr>
          <p:cNvPr id="12" name="Text 10"/>
          <p:cNvSpPr txBox="1"/>
          <p:nvPr/>
        </p:nvSpPr>
        <p:spPr>
          <a:xfrm>
            <a:off x="1371600" y="4526280"/>
            <a:ext cx="10058400" cy="502920"/>
          </a:xfrm>
          <a:prstGeom prst="rect">
            <a:avLst/>
          </a:prstGeom>
          <a:noFill/>
          <a:ln/>
        </p:spPr>
        <p:txBody>
          <a:bodyPr wrap="square" lIns="0" tIns="0" rIns="0" bIns="0" rtlCol="0" anchor="ctr"/>
          <a:lstStyle/>
          <a:p>
            <a:pPr indent="0" marL="0">
              <a:buNone/>
            </a:pPr>
            <a:r>
              <a:rPr lang="en-US" sz="2000" dirty="0">
                <a:solidFill>
                  <a:schemeClr val="bg1"/>
                </a:solidFill>
              </a:rPr>
              <a:t>Previous App Engine version noted and still exists</a:t>
            </a:r>
            <a:endParaRPr lang="en-US" sz="2000" dirty="0"/>
          </a:p>
        </p:txBody>
      </p:sp>
      <p:sp>
        <p:nvSpPr>
          <p:cNvPr id="13" name="checkbox 6"/>
          <p:cNvSpPr/>
          <p:nvPr/>
        </p:nvSpPr>
        <p:spPr>
          <a:xfrm>
            <a:off x="731520" y="5276088"/>
            <a:ext cx="365760" cy="365760"/>
          </a:xfrm>
          <a:prstGeom prst="roundRect">
            <a:avLst>
              <a:gd name="adj" fmla="val 12500"/>
            </a:avLst>
          </a:prstGeom>
          <a:solidFill>
            <a:schemeClr val="tx2"/>
          </a:solidFill>
          <a:ln w="19050">
            <a:solidFill>
              <a:srgbClr val="C9D6D1"/>
            </a:solidFill>
            <a:prstDash val="solid"/>
          </a:ln>
        </p:spPr>
      </p:sp>
      <p:sp>
        <p:nvSpPr>
          <p:cNvPr id="14" name="Text 12"/>
          <p:cNvSpPr txBox="1"/>
          <p:nvPr/>
        </p:nvSpPr>
        <p:spPr>
          <a:xfrm>
            <a:off x="1371600" y="5212080"/>
            <a:ext cx="10058400" cy="502920"/>
          </a:xfrm>
          <a:prstGeom prst="rect">
            <a:avLst/>
          </a:prstGeom>
          <a:noFill/>
          <a:ln/>
        </p:spPr>
        <p:txBody>
          <a:bodyPr wrap="square" lIns="0" tIns="0" rIns="0" bIns="0" rtlCol="0" anchor="ctr"/>
          <a:lstStyle/>
          <a:p>
            <a:pPr indent="0" marL="0">
              <a:buNone/>
            </a:pPr>
            <a:r>
              <a:rPr lang="en-US" sz="2000" dirty="0">
                <a:solidFill>
                  <a:schemeClr val="bg1"/>
                </a:solidFill>
              </a:rPr>
              <a:t>A second Deployer is available to approve</a:t>
            </a:r>
            <a:endParaRPr lang="en-US" sz="2000" dirty="0"/>
          </a:p>
        </p:txBody>
      </p:sp>
      <p:sp>
        <p:nvSpPr>
          <p:cNvPr id="15" name="Text 13"/>
          <p:cNvSpPr txBox="1"/>
          <p:nvPr/>
        </p:nvSpPr>
        <p:spPr>
          <a:xfrm>
            <a:off x="731520" y="6035040"/>
            <a:ext cx="10058400" cy="365760"/>
          </a:xfrm>
          <a:prstGeom prst="rect">
            <a:avLst/>
          </a:prstGeom>
          <a:noFill/>
          <a:ln/>
        </p:spPr>
        <p:txBody>
          <a:bodyPr wrap="square" lIns="0" tIns="0" rIns="0" bIns="0" rtlCol="0" anchor="ctr"/>
          <a:lstStyle/>
          <a:p>
            <a:pPr indent="0" marL="0">
              <a:buNone/>
            </a:pPr>
            <a:r>
              <a:rPr lang="en-US" sz="1400" dirty="0">
                <a:solidFill>
                  <a:srgbClr val="C9D6D1"/>
                </a:solidFill>
              </a:rPr>
              <a:t>Full runbook: docs/deployment-runbook.md</a:t>
            </a:r>
            <a:endParaRPr lang="en-US" sz="1400" dirty="0"/>
          </a:p>
        </p:txBody>
      </p:sp>
      <p:sp>
        <p:nvSpPr>
          <p:cNvPr id="17" name="Text 0"/>
          <p:cNvSpPr/>
          <p:nvPr>
            <p:ph idx="100" type="title" hasCustomPrompt="1"/>
          </p:nvPr>
        </p:nvSpPr>
        <p:spPr>
          <a:xfrm>
            <a:off x="731520" y="2103120"/>
            <a:ext cx="10698480" cy="1371600"/>
          </a:xfrm>
          <a:prstGeom prst="rect">
            <a:avLst/>
          </a:prstGeom>
          <a:noFill/>
          <a:ln/>
        </p:spPr>
        <p:txBody>
          <a:bodyPr wrap="square" lIns="0" tIns="0" rIns="0" bIns="0" rtlCol="0" anchor="b"/>
          <a:lstStyle/>
          <a:p>
            <a:pPr algn="l" indent="0" marL="0">
              <a:buNone/>
            </a:pPr>
            <a:endParaRPr lang="en-US" sz="4800" dirty="0"/>
          </a:p>
        </p:txBody>
      </p:sp>
      <p:sp>
        <p:nvSpPr>
          <p:cNvPr id="18" name="Text 0"/>
          <p:cNvSpPr/>
          <p:nvPr>
            <p:ph idx="101" type="body" hasCustomPrompt="1"/>
          </p:nvPr>
        </p:nvSpPr>
        <p:spPr>
          <a:xfrm>
            <a:off x="731520" y="3657600"/>
            <a:ext cx="10698480" cy="109728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theme/theme1.xml><?xml version="1.0" encoding="utf-8"?>
<a:theme xmlns:a="http://schemas.openxmlformats.org/drawingml/2006/main" name="Ocotillo Deploy">
  <a:themeElements>
    <a:clrScheme name="Ocotillo Deploy">
      <a:dk1>
        <a:srgbClr val="1B1F1D"/>
      </a:dk1>
      <a:lt1>
        <a:srgbClr val="FFFFFF"/>
      </a:lt1>
      <a:dk2>
        <a:srgbClr val="1F3A33"/>
      </a:dk2>
      <a:lt2>
        <a:srgbClr val="EEF2F0"/>
      </a:lt2>
      <a:accent1>
        <a:srgbClr val="2E6B5E"/>
      </a:accent1>
      <a:accent2>
        <a:srgbClr val="C93C14"/>
      </a:accent2>
      <a:accent3>
        <a:srgbClr val="D98E1F"/>
      </a:accent3>
      <a:accent4>
        <a:srgbClr val="5F6E69"/>
      </a:accent4>
      <a:accent5>
        <a:srgbClr val="F7E1D8"/>
      </a:accent5>
      <a:accent6>
        <a:srgbClr val="FBEFD9"/>
      </a:accent6>
      <a:hlink>
        <a:srgbClr val="2E6B5E"/>
      </a:hlink>
      <a:folHlink>
        <a:srgbClr val="5F6E69"/>
      </a:folHlink>
    </a:clrScheme>
    <a:fontScheme name="Ocotillo Deplo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OcotilloAPI deployment runbook</dc:title>
  <dc:subject>PptxGenJS Presentation</dc:subject>
  <dc:creator>PptxGenJS</dc:creator>
  <cp:lastModifiedBy>PptxGenJS</cp:lastModifiedBy>
  <cp:revision>1</cp:revision>
  <dcterms:created xsi:type="dcterms:W3CDTF">2026-10-08T18:51:02Z</dcterms:created>
  <dcterms:modified xsi:type="dcterms:W3CDTF">2026-10-08T18:51:02Z</dcterms:modified>
</cp:coreProperties>
</file>